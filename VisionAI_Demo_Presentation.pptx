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86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48272"/>
            <a:ext cx="12188952" cy="109728"/>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6459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371600" y="1280160"/>
            <a:ext cx="9445752" cy="4297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1554480"/>
            <a:ext cx="5486400" cy="914400"/>
          </a:xfrm>
          <a:prstGeom prst="rect">
            <a:avLst/>
          </a:prstGeom>
          <a:noFill/>
        </p:spPr>
        <p:txBody>
          <a:bodyPr wrap="square">
            <a:spAutoFit/>
          </a:bodyPr>
          <a:lstStyle/>
          <a:p>
            <a:pPr algn="l"/>
            <a:r>
              <a:rPr sz="5200" b="1" i="0">
                <a:solidFill>
                  <a:srgbClr val="19C37D"/>
                </a:solidFill>
              </a:rPr>
              <a:t>VisionAI</a:t>
            </a:r>
          </a:p>
        </p:txBody>
      </p:sp>
      <p:sp>
        <p:nvSpPr>
          <p:cNvPr id="7" name="TextBox 6"/>
          <p:cNvSpPr txBox="1"/>
          <p:nvPr/>
        </p:nvSpPr>
        <p:spPr>
          <a:xfrm>
            <a:off x="1645920" y="2423160"/>
            <a:ext cx="9144000" cy="640080"/>
          </a:xfrm>
          <a:prstGeom prst="rect">
            <a:avLst/>
          </a:prstGeom>
          <a:noFill/>
        </p:spPr>
        <p:txBody>
          <a:bodyPr wrap="square">
            <a:spAutoFit/>
          </a:bodyPr>
          <a:lstStyle/>
          <a:p>
            <a:pPr algn="l"/>
            <a:r>
              <a:rPr sz="2600" b="0" i="0">
                <a:solidFill>
                  <a:srgbClr val="FFFFFF"/>
                </a:solidFill>
              </a:rPr>
              <a:t>AI-Powered Workforce Intelligence</a:t>
            </a:r>
          </a:p>
        </p:txBody>
      </p:sp>
      <p:sp>
        <p:nvSpPr>
          <p:cNvPr id="8" name="TextBox 7"/>
          <p:cNvSpPr txBox="1"/>
          <p:nvPr/>
        </p:nvSpPr>
        <p:spPr>
          <a:xfrm>
            <a:off x="1645920" y="3063240"/>
            <a:ext cx="9144000" cy="502920"/>
          </a:xfrm>
          <a:prstGeom prst="rect">
            <a:avLst/>
          </a:prstGeom>
          <a:noFill/>
        </p:spPr>
        <p:txBody>
          <a:bodyPr wrap="square">
            <a:spAutoFit/>
          </a:bodyPr>
          <a:lstStyle/>
          <a:p>
            <a:pPr algn="l"/>
            <a:r>
              <a:rPr sz="2000" b="0" i="1">
                <a:solidFill>
                  <a:srgbClr val="CCCCCC"/>
                </a:solidFill>
              </a:rPr>
              <a:t>Demo Presentation</a:t>
            </a:r>
          </a:p>
        </p:txBody>
      </p:sp>
      <p:sp>
        <p:nvSpPr>
          <p:cNvPr id="9" name="Rectangle 8"/>
          <p:cNvSpPr/>
          <p:nvPr/>
        </p:nvSpPr>
        <p:spPr>
          <a:xfrm>
            <a:off x="1645920" y="3977639"/>
            <a:ext cx="2504049" cy="41148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38531" y="4057540"/>
            <a:ext cx="2318825" cy="261610"/>
          </a:xfrm>
          <a:prstGeom prst="rect">
            <a:avLst/>
          </a:prstGeom>
          <a:noFill/>
        </p:spPr>
        <p:txBody>
          <a:bodyPr wrap="square">
            <a:spAutoFit/>
          </a:bodyPr>
          <a:lstStyle/>
          <a:p>
            <a:pPr algn="l"/>
            <a:r>
              <a:rPr sz="1100" b="1" i="0" dirty="0">
                <a:solidFill>
                  <a:srgbClr val="111111"/>
                </a:solidFill>
              </a:rPr>
              <a:t>Demo 1  Employee Detection</a:t>
            </a:r>
          </a:p>
        </p:txBody>
      </p:sp>
      <p:sp>
        <p:nvSpPr>
          <p:cNvPr id="11" name="Rectangle 10"/>
          <p:cNvSpPr/>
          <p:nvPr/>
        </p:nvSpPr>
        <p:spPr>
          <a:xfrm>
            <a:off x="4631372" y="3990300"/>
            <a:ext cx="2926080" cy="4114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36123" y="4057540"/>
            <a:ext cx="2821329" cy="276999"/>
          </a:xfrm>
          <a:prstGeom prst="rect">
            <a:avLst/>
          </a:prstGeom>
          <a:noFill/>
        </p:spPr>
        <p:txBody>
          <a:bodyPr wrap="square">
            <a:spAutoFit/>
          </a:bodyPr>
          <a:lstStyle/>
          <a:p>
            <a:pPr algn="l"/>
            <a:r>
              <a:rPr sz="1200" b="1" i="0" dirty="0">
                <a:solidFill>
                  <a:srgbClr val="111111"/>
                </a:solidFill>
              </a:rPr>
              <a:t>Demo 2  Unauthorized Entry Detection</a:t>
            </a:r>
          </a:p>
        </p:txBody>
      </p:sp>
      <p:sp>
        <p:nvSpPr>
          <p:cNvPr id="13" name="Rectangle 12"/>
          <p:cNvSpPr/>
          <p:nvPr/>
        </p:nvSpPr>
        <p:spPr>
          <a:xfrm>
            <a:off x="7920110" y="3977639"/>
            <a:ext cx="2651759"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43315" y="4057540"/>
            <a:ext cx="2313305" cy="261610"/>
          </a:xfrm>
          <a:prstGeom prst="rect">
            <a:avLst/>
          </a:prstGeom>
          <a:noFill/>
        </p:spPr>
        <p:txBody>
          <a:bodyPr wrap="square">
            <a:spAutoFit/>
          </a:bodyPr>
          <a:lstStyle/>
          <a:p>
            <a:pPr algn="l"/>
            <a:r>
              <a:rPr sz="1100" b="1" i="0" dirty="0">
                <a:solidFill>
                  <a:srgbClr val="111111"/>
                </a:solidFill>
              </a:rPr>
              <a:t>Demo 3  Idle + Shift Compliance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972800" cy="411480"/>
          </a:xfrm>
          <a:prstGeom prst="rect">
            <a:avLst/>
          </a:prstGeom>
          <a:noFill/>
        </p:spPr>
        <p:txBody>
          <a:bodyPr wrap="square">
            <a:spAutoFit/>
          </a:bodyPr>
          <a:lstStyle/>
          <a:p>
            <a:pPr algn="l"/>
            <a:r>
              <a:rPr sz="2000" b="1" i="0">
                <a:solidFill>
                  <a:srgbClr val="FFFFFF"/>
                </a:solidFill>
              </a:rPr>
              <a:t>Agenda</a:t>
            </a:r>
          </a:p>
        </p:txBody>
      </p:sp>
      <p:sp>
        <p:nvSpPr>
          <p:cNvPr id="4" name="Rectangle 3"/>
          <p:cNvSpPr/>
          <p:nvPr/>
        </p:nvSpPr>
        <p:spPr>
          <a:xfrm>
            <a:off x="365760" y="777240"/>
            <a:ext cx="640080" cy="64008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640080" cy="640080"/>
          </a:xfrm>
          <a:prstGeom prst="rect">
            <a:avLst/>
          </a:prstGeom>
          <a:noFill/>
        </p:spPr>
        <p:txBody>
          <a:bodyPr wrap="square">
            <a:spAutoFit/>
          </a:bodyPr>
          <a:lstStyle/>
          <a:p>
            <a:pPr algn="ctr"/>
            <a:r>
              <a:rPr sz="2200" b="1" i="0">
                <a:solidFill>
                  <a:srgbClr val="111111"/>
                </a:solidFill>
              </a:rPr>
              <a:t>01</a:t>
            </a:r>
          </a:p>
        </p:txBody>
      </p:sp>
      <p:sp>
        <p:nvSpPr>
          <p:cNvPr id="6" name="TextBox 5"/>
          <p:cNvSpPr txBox="1"/>
          <p:nvPr/>
        </p:nvSpPr>
        <p:spPr>
          <a:xfrm>
            <a:off x="1143000" y="740664"/>
            <a:ext cx="10515600" cy="457200"/>
          </a:xfrm>
          <a:prstGeom prst="rect">
            <a:avLst/>
          </a:prstGeom>
          <a:noFill/>
        </p:spPr>
        <p:txBody>
          <a:bodyPr wrap="square">
            <a:spAutoFit/>
          </a:bodyPr>
          <a:lstStyle/>
          <a:p>
            <a:pPr algn="l"/>
            <a:r>
              <a:rPr sz="1800" b="1" i="0">
                <a:solidFill>
                  <a:srgbClr val="FFFFFF"/>
                </a:solidFill>
              </a:rPr>
              <a:t>Demo 1 — Employee Detection</a:t>
            </a:r>
          </a:p>
        </p:txBody>
      </p:sp>
      <p:sp>
        <p:nvSpPr>
          <p:cNvPr id="7" name="TextBox 6"/>
          <p:cNvSpPr txBox="1"/>
          <p:nvPr/>
        </p:nvSpPr>
        <p:spPr>
          <a:xfrm>
            <a:off x="1143000" y="1179576"/>
            <a:ext cx="10515600" cy="548640"/>
          </a:xfrm>
          <a:prstGeom prst="rect">
            <a:avLst/>
          </a:prstGeom>
          <a:noFill/>
        </p:spPr>
        <p:txBody>
          <a:bodyPr wrap="square">
            <a:spAutoFit/>
          </a:bodyPr>
          <a:lstStyle/>
          <a:p>
            <a:pPr algn="l"/>
            <a:r>
              <a:rPr sz="1300" b="0" i="1">
                <a:solidFill>
                  <a:srgbClr val="CCCCCC"/>
                </a:solidFill>
              </a:rPr>
              <a:t>Register employees  ›  Upload video  ›  View annotated output with ID labels</a:t>
            </a:r>
          </a:p>
        </p:txBody>
      </p:sp>
      <p:sp>
        <p:nvSpPr>
          <p:cNvPr id="8" name="Rectangle 7"/>
          <p:cNvSpPr/>
          <p:nvPr/>
        </p:nvSpPr>
        <p:spPr>
          <a:xfrm>
            <a:off x="365760" y="2194560"/>
            <a:ext cx="640080" cy="6400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194560"/>
            <a:ext cx="640080" cy="640080"/>
          </a:xfrm>
          <a:prstGeom prst="rect">
            <a:avLst/>
          </a:prstGeom>
          <a:noFill/>
        </p:spPr>
        <p:txBody>
          <a:bodyPr wrap="square">
            <a:spAutoFit/>
          </a:bodyPr>
          <a:lstStyle/>
          <a:p>
            <a:pPr algn="ctr"/>
            <a:r>
              <a:rPr sz="2200" b="1" i="0">
                <a:solidFill>
                  <a:srgbClr val="111111"/>
                </a:solidFill>
              </a:rPr>
              <a:t>02</a:t>
            </a:r>
          </a:p>
        </p:txBody>
      </p:sp>
      <p:sp>
        <p:nvSpPr>
          <p:cNvPr id="10" name="TextBox 9"/>
          <p:cNvSpPr txBox="1"/>
          <p:nvPr/>
        </p:nvSpPr>
        <p:spPr>
          <a:xfrm>
            <a:off x="1143000" y="2157984"/>
            <a:ext cx="10515600" cy="457200"/>
          </a:xfrm>
          <a:prstGeom prst="rect">
            <a:avLst/>
          </a:prstGeom>
          <a:noFill/>
        </p:spPr>
        <p:txBody>
          <a:bodyPr wrap="square">
            <a:spAutoFit/>
          </a:bodyPr>
          <a:lstStyle/>
          <a:p>
            <a:pPr algn="l"/>
            <a:r>
              <a:rPr sz="1800" b="1" i="0">
                <a:solidFill>
                  <a:srgbClr val="FFFFFF"/>
                </a:solidFill>
              </a:rPr>
              <a:t>Demo 2 — Unauthorized Entry Detection</a:t>
            </a:r>
          </a:p>
        </p:txBody>
      </p:sp>
      <p:sp>
        <p:nvSpPr>
          <p:cNvPr id="11" name="TextBox 10"/>
          <p:cNvSpPr txBox="1"/>
          <p:nvPr/>
        </p:nvSpPr>
        <p:spPr>
          <a:xfrm>
            <a:off x="1143000" y="2596896"/>
            <a:ext cx="10515600" cy="548640"/>
          </a:xfrm>
          <a:prstGeom prst="rect">
            <a:avLst/>
          </a:prstGeom>
          <a:noFill/>
        </p:spPr>
        <p:txBody>
          <a:bodyPr wrap="square">
            <a:spAutoFit/>
          </a:bodyPr>
          <a:lstStyle/>
          <a:p>
            <a:pPr algn="l"/>
            <a:r>
              <a:rPr sz="1300" b="0" i="1">
                <a:solidFill>
                  <a:srgbClr val="CCCCCC"/>
                </a:solidFill>
              </a:rPr>
              <a:t>Face matching against employee DB  ›  Authorized (Green) vs Unauthorized (Red)  ›  Event log</a:t>
            </a:r>
          </a:p>
        </p:txBody>
      </p:sp>
      <p:sp>
        <p:nvSpPr>
          <p:cNvPr id="12" name="Rectangle 11"/>
          <p:cNvSpPr/>
          <p:nvPr/>
        </p:nvSpPr>
        <p:spPr>
          <a:xfrm>
            <a:off x="365760" y="3611880"/>
            <a:ext cx="640080"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3611880"/>
            <a:ext cx="640080" cy="640080"/>
          </a:xfrm>
          <a:prstGeom prst="rect">
            <a:avLst/>
          </a:prstGeom>
          <a:noFill/>
        </p:spPr>
        <p:txBody>
          <a:bodyPr wrap="square">
            <a:spAutoFit/>
          </a:bodyPr>
          <a:lstStyle/>
          <a:p>
            <a:pPr algn="ctr"/>
            <a:r>
              <a:rPr sz="2200" b="1" i="0">
                <a:solidFill>
                  <a:srgbClr val="111111"/>
                </a:solidFill>
              </a:rPr>
              <a:t>03</a:t>
            </a:r>
          </a:p>
        </p:txBody>
      </p:sp>
      <p:sp>
        <p:nvSpPr>
          <p:cNvPr id="14" name="TextBox 13"/>
          <p:cNvSpPr txBox="1"/>
          <p:nvPr/>
        </p:nvSpPr>
        <p:spPr>
          <a:xfrm>
            <a:off x="1143000" y="3575304"/>
            <a:ext cx="10515600" cy="457200"/>
          </a:xfrm>
          <a:prstGeom prst="rect">
            <a:avLst/>
          </a:prstGeom>
          <a:noFill/>
        </p:spPr>
        <p:txBody>
          <a:bodyPr wrap="square">
            <a:spAutoFit/>
          </a:bodyPr>
          <a:lstStyle/>
          <a:p>
            <a:pPr algn="l"/>
            <a:r>
              <a:rPr sz="1800" b="1" i="0">
                <a:solidFill>
                  <a:srgbClr val="FFFFFF"/>
                </a:solidFill>
              </a:rPr>
              <a:t>Demo 3A — Idle Time Detection</a:t>
            </a:r>
          </a:p>
        </p:txBody>
      </p:sp>
      <p:sp>
        <p:nvSpPr>
          <p:cNvPr id="15" name="TextBox 14"/>
          <p:cNvSpPr txBox="1"/>
          <p:nvPr/>
        </p:nvSpPr>
        <p:spPr>
          <a:xfrm>
            <a:off x="1143000" y="4014216"/>
            <a:ext cx="10515600" cy="548640"/>
          </a:xfrm>
          <a:prstGeom prst="rect">
            <a:avLst/>
          </a:prstGeom>
          <a:noFill/>
        </p:spPr>
        <p:txBody>
          <a:bodyPr wrap="square">
            <a:spAutoFit/>
          </a:bodyPr>
          <a:lstStyle/>
          <a:p>
            <a:pPr algn="l"/>
            <a:r>
              <a:rPr sz="1300" b="0" i="1">
                <a:solidFill>
                  <a:srgbClr val="CCCCCC"/>
                </a:solidFill>
              </a:rPr>
              <a:t>Track person movement  ›  Yellow box when still  ›  Idle event log</a:t>
            </a:r>
          </a:p>
        </p:txBody>
      </p:sp>
      <p:sp>
        <p:nvSpPr>
          <p:cNvPr id="16" name="Rectangle 15"/>
          <p:cNvSpPr/>
          <p:nvPr/>
        </p:nvSpPr>
        <p:spPr>
          <a:xfrm>
            <a:off x="365760" y="5029200"/>
            <a:ext cx="640080" cy="6400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5029200"/>
            <a:ext cx="640080" cy="640080"/>
          </a:xfrm>
          <a:prstGeom prst="rect">
            <a:avLst/>
          </a:prstGeom>
          <a:noFill/>
        </p:spPr>
        <p:txBody>
          <a:bodyPr wrap="square">
            <a:spAutoFit/>
          </a:bodyPr>
          <a:lstStyle/>
          <a:p>
            <a:pPr algn="ctr"/>
            <a:r>
              <a:rPr sz="2200" b="1" i="0">
                <a:solidFill>
                  <a:srgbClr val="111111"/>
                </a:solidFill>
              </a:rPr>
              <a:t>04</a:t>
            </a:r>
          </a:p>
        </p:txBody>
      </p:sp>
      <p:sp>
        <p:nvSpPr>
          <p:cNvPr id="18" name="TextBox 17"/>
          <p:cNvSpPr txBox="1"/>
          <p:nvPr/>
        </p:nvSpPr>
        <p:spPr>
          <a:xfrm>
            <a:off x="1143000" y="4992624"/>
            <a:ext cx="10515600" cy="457200"/>
          </a:xfrm>
          <a:prstGeom prst="rect">
            <a:avLst/>
          </a:prstGeom>
          <a:noFill/>
        </p:spPr>
        <p:txBody>
          <a:bodyPr wrap="square">
            <a:spAutoFit/>
          </a:bodyPr>
          <a:lstStyle/>
          <a:p>
            <a:pPr algn="l"/>
            <a:r>
              <a:rPr sz="1800" b="1" i="0">
                <a:solidFill>
                  <a:srgbClr val="FFFFFF"/>
                </a:solidFill>
              </a:rPr>
              <a:t>Demo 3B — Shift Compliance</a:t>
            </a:r>
          </a:p>
        </p:txBody>
      </p:sp>
      <p:sp>
        <p:nvSpPr>
          <p:cNvPr id="19" name="TextBox 18"/>
          <p:cNvSpPr txBox="1"/>
          <p:nvPr/>
        </p:nvSpPr>
        <p:spPr>
          <a:xfrm>
            <a:off x="1143000" y="5431536"/>
            <a:ext cx="10515600" cy="548640"/>
          </a:xfrm>
          <a:prstGeom prst="rect">
            <a:avLst/>
          </a:prstGeom>
          <a:noFill/>
        </p:spPr>
        <p:txBody>
          <a:bodyPr wrap="square">
            <a:spAutoFit/>
          </a:bodyPr>
          <a:lstStyle/>
          <a:p>
            <a:pPr algn="l"/>
            <a:r>
              <a:rPr sz="1300" b="0" i="1">
                <a:solidFill>
                  <a:srgbClr val="CCCCCC"/>
                </a:solidFill>
              </a:rPr>
              <a:t>Map video timestamp to wall clock  ›  Compare vs. work schedule  ›  Compliance report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972800" cy="411480"/>
          </a:xfrm>
          <a:prstGeom prst="rect">
            <a:avLst/>
          </a:prstGeom>
          <a:noFill/>
        </p:spPr>
        <p:txBody>
          <a:bodyPr wrap="square">
            <a:spAutoFit/>
          </a:bodyPr>
          <a:lstStyle/>
          <a:p>
            <a:pPr algn="l"/>
            <a:r>
              <a:rPr sz="2000" b="1" i="0">
                <a:solidFill>
                  <a:srgbClr val="FFFFFF"/>
                </a:solidFill>
              </a:rPr>
              <a:t>Demo 1  —  Employee Detection</a:t>
            </a:r>
          </a:p>
        </p:txBody>
      </p:sp>
      <p:sp>
        <p:nvSpPr>
          <p:cNvPr id="4" name="TextBox 3"/>
          <p:cNvSpPr txBox="1"/>
          <p:nvPr/>
        </p:nvSpPr>
        <p:spPr>
          <a:xfrm>
            <a:off x="457200" y="685800"/>
            <a:ext cx="10972800" cy="457200"/>
          </a:xfrm>
          <a:prstGeom prst="rect">
            <a:avLst/>
          </a:prstGeom>
          <a:noFill/>
        </p:spPr>
        <p:txBody>
          <a:bodyPr wrap="square">
            <a:spAutoFit/>
          </a:bodyPr>
          <a:lstStyle/>
          <a:p>
            <a:pPr algn="l"/>
            <a:r>
              <a:rPr sz="2000" b="1" i="0">
                <a:solidFill>
                  <a:srgbClr val="19C37D"/>
                </a:solidFill>
              </a:rPr>
              <a:t>What it does</a:t>
            </a:r>
          </a:p>
        </p:txBody>
      </p:sp>
      <p:sp>
        <p:nvSpPr>
          <p:cNvPr id="5" name="TextBox 4"/>
          <p:cNvSpPr txBox="1"/>
          <p:nvPr/>
        </p:nvSpPr>
        <p:spPr>
          <a:xfrm>
            <a:off x="457200" y="1097280"/>
            <a:ext cx="11247120" cy="646331"/>
          </a:xfrm>
          <a:prstGeom prst="rect">
            <a:avLst/>
          </a:prstGeom>
          <a:noFill/>
        </p:spPr>
        <p:txBody>
          <a:bodyPr wrap="square">
            <a:spAutoFit/>
          </a:bodyPr>
          <a:lstStyle/>
          <a:p>
            <a:pPr algn="l"/>
            <a:r>
              <a:rPr b="0" i="0" dirty="0">
                <a:solidFill>
                  <a:srgbClr val="CCCCCC"/>
                </a:solidFill>
              </a:rPr>
              <a:t>Automatically identifies registered employees in an uploaded video using deep-learning face embeddings (</a:t>
            </a:r>
            <a:r>
              <a:rPr b="0" i="0" dirty="0" err="1">
                <a:solidFill>
                  <a:srgbClr val="CCCCCC"/>
                </a:solidFill>
              </a:rPr>
              <a:t>Facenet</a:t>
            </a:r>
            <a:r>
              <a:rPr b="0" i="0" dirty="0">
                <a:solidFill>
                  <a:srgbClr val="CCCCCC"/>
                </a:solidFill>
              </a:rPr>
              <a:t>) and annotates each person with their name and confidence score.</a:t>
            </a:r>
          </a:p>
        </p:txBody>
      </p:sp>
      <p:sp>
        <p:nvSpPr>
          <p:cNvPr id="6" name="Rectangle 5"/>
          <p:cNvSpPr/>
          <p:nvPr/>
        </p:nvSpPr>
        <p:spPr>
          <a:xfrm>
            <a:off x="365760" y="2236177"/>
            <a:ext cx="5303520" cy="42062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385" y="2670517"/>
            <a:ext cx="4846320" cy="411480"/>
          </a:xfrm>
          <a:prstGeom prst="rect">
            <a:avLst/>
          </a:prstGeom>
          <a:noFill/>
        </p:spPr>
        <p:txBody>
          <a:bodyPr wrap="square">
            <a:spAutoFit/>
          </a:bodyPr>
          <a:lstStyle/>
          <a:p>
            <a:pPr algn="l"/>
            <a:r>
              <a:rPr sz="1600" b="1" i="0" dirty="0">
                <a:solidFill>
                  <a:srgbClr val="19C37D"/>
                </a:solidFill>
              </a:rPr>
              <a:t>How It Works</a:t>
            </a:r>
          </a:p>
        </p:txBody>
      </p:sp>
      <p:sp>
        <p:nvSpPr>
          <p:cNvPr id="8" name="TextBox 7"/>
          <p:cNvSpPr txBox="1"/>
          <p:nvPr/>
        </p:nvSpPr>
        <p:spPr>
          <a:xfrm>
            <a:off x="594360" y="3383280"/>
            <a:ext cx="4846320" cy="2264723"/>
          </a:xfrm>
          <a:prstGeom prst="rect">
            <a:avLst/>
          </a:prstGeom>
          <a:noFill/>
        </p:spPr>
        <p:txBody>
          <a:bodyPr wrap="square">
            <a:spAutoFit/>
          </a:bodyPr>
          <a:lstStyle/>
          <a:p>
            <a:pPr>
              <a:spcBef>
                <a:spcPts val="500"/>
              </a:spcBef>
            </a:pPr>
            <a:r>
              <a:rPr sz="1400" dirty="0">
                <a:solidFill>
                  <a:srgbClr val="CCCCCC"/>
                </a:solidFill>
              </a:rPr>
              <a:t>1  Upload employee photo via /demo page</a:t>
            </a:r>
          </a:p>
          <a:p>
            <a:pPr>
              <a:spcBef>
                <a:spcPts val="500"/>
              </a:spcBef>
            </a:pPr>
            <a:r>
              <a:rPr sz="1400" dirty="0">
                <a:solidFill>
                  <a:srgbClr val="CCCCCC"/>
                </a:solidFill>
              </a:rPr>
              <a:t>2  </a:t>
            </a:r>
            <a:r>
              <a:rPr lang="en-IN" sz="1400" dirty="0">
                <a:solidFill>
                  <a:srgbClr val="CCCCCC"/>
                </a:solidFill>
              </a:rPr>
              <a:t>'</a:t>
            </a:r>
            <a:r>
              <a:rPr sz="1400" dirty="0" err="1">
                <a:solidFill>
                  <a:srgbClr val="CCCCCC"/>
                </a:solidFill>
              </a:rPr>
              <a:t>Facenet</a:t>
            </a:r>
            <a:r>
              <a:rPr lang="en-IN" sz="1400" dirty="0">
                <a:solidFill>
                  <a:srgbClr val="CCCCCC"/>
                </a:solidFill>
              </a:rPr>
              <a:t>'</a:t>
            </a:r>
            <a:r>
              <a:rPr sz="1400" dirty="0">
                <a:solidFill>
                  <a:srgbClr val="CCCCCC"/>
                </a:solidFill>
              </a:rPr>
              <a:t> extracts 128-dim face embedding</a:t>
            </a:r>
          </a:p>
          <a:p>
            <a:pPr>
              <a:spcBef>
                <a:spcPts val="500"/>
              </a:spcBef>
            </a:pPr>
            <a:r>
              <a:rPr sz="1400" dirty="0">
                <a:solidFill>
                  <a:srgbClr val="CCCCCC"/>
                </a:solidFill>
              </a:rPr>
              <a:t>3  Embedding saved in SQLite DB</a:t>
            </a:r>
          </a:p>
          <a:p>
            <a:pPr>
              <a:spcBef>
                <a:spcPts val="500"/>
              </a:spcBef>
            </a:pPr>
            <a:r>
              <a:rPr sz="1400" dirty="0">
                <a:solidFill>
                  <a:srgbClr val="CCCCCC"/>
                </a:solidFill>
              </a:rPr>
              <a:t>4  Upload a workplace video</a:t>
            </a:r>
          </a:p>
          <a:p>
            <a:pPr>
              <a:spcBef>
                <a:spcPts val="500"/>
              </a:spcBef>
            </a:pPr>
            <a:r>
              <a:rPr sz="1400" dirty="0">
                <a:solidFill>
                  <a:srgbClr val="CCCCCC"/>
                </a:solidFill>
              </a:rPr>
              <a:t>5  YOLO v8 detects every person per frame</a:t>
            </a:r>
          </a:p>
          <a:p>
            <a:pPr>
              <a:spcBef>
                <a:spcPts val="500"/>
              </a:spcBef>
            </a:pPr>
            <a:r>
              <a:rPr sz="1400" dirty="0">
                <a:solidFill>
                  <a:srgbClr val="CCCCCC"/>
                </a:solidFill>
              </a:rPr>
              <a:t>6  Face crop → </a:t>
            </a:r>
            <a:r>
              <a:rPr sz="1400" dirty="0" err="1">
                <a:solidFill>
                  <a:srgbClr val="CCCCCC"/>
                </a:solidFill>
              </a:rPr>
              <a:t>Facenet</a:t>
            </a:r>
            <a:r>
              <a:rPr sz="1400" dirty="0">
                <a:solidFill>
                  <a:srgbClr val="CCCCCC"/>
                </a:solidFill>
              </a:rPr>
              <a:t> embedding → cosine similarity match</a:t>
            </a:r>
          </a:p>
          <a:p>
            <a:pPr>
              <a:spcBef>
                <a:spcPts val="500"/>
              </a:spcBef>
            </a:pPr>
            <a:r>
              <a:rPr sz="1400" dirty="0">
                <a:solidFill>
                  <a:srgbClr val="CCCCCC"/>
                </a:solidFill>
              </a:rPr>
              <a:t>7  Green box + name label for recognized employees</a:t>
            </a:r>
          </a:p>
          <a:p>
            <a:pPr>
              <a:spcBef>
                <a:spcPts val="500"/>
              </a:spcBef>
            </a:pPr>
            <a:r>
              <a:rPr sz="1400" dirty="0">
                <a:solidFill>
                  <a:srgbClr val="CCCCCC"/>
                </a:solidFill>
              </a:rPr>
              <a:t>8  Red box for unrecognized persons</a:t>
            </a:r>
          </a:p>
        </p:txBody>
      </p:sp>
      <p:sp>
        <p:nvSpPr>
          <p:cNvPr id="9" name="Rectangle 8"/>
          <p:cNvSpPr/>
          <p:nvPr/>
        </p:nvSpPr>
        <p:spPr>
          <a:xfrm>
            <a:off x="6126480" y="2286000"/>
            <a:ext cx="5669280" cy="42062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2299716"/>
            <a:ext cx="5212080" cy="584775"/>
          </a:xfrm>
          <a:prstGeom prst="rect">
            <a:avLst/>
          </a:prstGeom>
          <a:noFill/>
        </p:spPr>
        <p:txBody>
          <a:bodyPr wrap="square">
            <a:spAutoFit/>
          </a:bodyPr>
          <a:lstStyle/>
          <a:p>
            <a:pPr algn="l"/>
            <a:r>
              <a:rPr sz="1600" b="1" i="0" dirty="0">
                <a:solidFill>
                  <a:srgbClr val="19C37D"/>
                </a:solidFill>
              </a:rPr>
              <a:t>Output Video Legend</a:t>
            </a:r>
            <a:endParaRPr lang="en-IN" sz="1600" b="1" i="0" dirty="0">
              <a:solidFill>
                <a:srgbClr val="19C37D"/>
              </a:solidFill>
            </a:endParaRPr>
          </a:p>
          <a:p>
            <a:pPr algn="l"/>
            <a:endParaRPr sz="1600" b="1" i="0" dirty="0">
              <a:solidFill>
                <a:srgbClr val="19C37D"/>
              </a:solidFill>
            </a:endParaRPr>
          </a:p>
        </p:txBody>
      </p:sp>
      <p:sp>
        <p:nvSpPr>
          <p:cNvPr id="11" name="Rectangle 10"/>
          <p:cNvSpPr/>
          <p:nvPr/>
        </p:nvSpPr>
        <p:spPr>
          <a:xfrm>
            <a:off x="6394938" y="2878322"/>
            <a:ext cx="320040" cy="32004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6858000" y="2907792"/>
            <a:ext cx="4663440" cy="457200"/>
          </a:xfrm>
          <a:prstGeom prst="rect">
            <a:avLst/>
          </a:prstGeom>
          <a:noFill/>
        </p:spPr>
        <p:txBody>
          <a:bodyPr wrap="square">
            <a:spAutoFit/>
          </a:bodyPr>
          <a:lstStyle/>
          <a:p>
            <a:pPr algn="l"/>
            <a:r>
              <a:rPr sz="1300" b="0" i="0" dirty="0">
                <a:solidFill>
                  <a:srgbClr val="CCCCCC"/>
                </a:solidFill>
              </a:rPr>
              <a:t>Green box  — Recognized employee  (name + score shown)</a:t>
            </a:r>
          </a:p>
        </p:txBody>
      </p:sp>
      <p:sp>
        <p:nvSpPr>
          <p:cNvPr id="13" name="Rectangle 12"/>
          <p:cNvSpPr/>
          <p:nvPr/>
        </p:nvSpPr>
        <p:spPr>
          <a:xfrm>
            <a:off x="6400800" y="3337560"/>
            <a:ext cx="320040" cy="3200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0" y="3310128"/>
            <a:ext cx="4663440" cy="457200"/>
          </a:xfrm>
          <a:prstGeom prst="rect">
            <a:avLst/>
          </a:prstGeom>
          <a:noFill/>
        </p:spPr>
        <p:txBody>
          <a:bodyPr wrap="square">
            <a:spAutoFit/>
          </a:bodyPr>
          <a:lstStyle/>
          <a:p>
            <a:pPr algn="l"/>
            <a:r>
              <a:rPr sz="1300" b="0" i="0">
                <a:solidFill>
                  <a:srgbClr val="CCCCCC"/>
                </a:solidFill>
              </a:rPr>
              <a:t>Red box    — Unknown / Unregistered person</a:t>
            </a:r>
          </a:p>
        </p:txBody>
      </p:sp>
      <p:sp>
        <p:nvSpPr>
          <p:cNvPr id="15" name="TextBox 14"/>
          <p:cNvSpPr txBox="1"/>
          <p:nvPr/>
        </p:nvSpPr>
        <p:spPr>
          <a:xfrm>
            <a:off x="6355080" y="4206240"/>
            <a:ext cx="5029200" cy="365760"/>
          </a:xfrm>
          <a:prstGeom prst="rect">
            <a:avLst/>
          </a:prstGeom>
          <a:noFill/>
        </p:spPr>
        <p:txBody>
          <a:bodyPr wrap="square">
            <a:spAutoFit/>
          </a:bodyPr>
          <a:lstStyle/>
          <a:p>
            <a:pPr algn="l"/>
            <a:r>
              <a:rPr sz="1400" b="1" i="0">
                <a:solidFill>
                  <a:srgbClr val="19C37D"/>
                </a:solidFill>
              </a:rPr>
              <a:t>Key Technology</a:t>
            </a:r>
          </a:p>
        </p:txBody>
      </p:sp>
      <p:sp>
        <p:nvSpPr>
          <p:cNvPr id="16" name="TextBox 15"/>
          <p:cNvSpPr txBox="1"/>
          <p:nvPr/>
        </p:nvSpPr>
        <p:spPr>
          <a:xfrm>
            <a:off x="6355080" y="4617720"/>
            <a:ext cx="5029200" cy="365760"/>
          </a:xfrm>
          <a:prstGeom prst="rect">
            <a:avLst/>
          </a:prstGeom>
          <a:noFill/>
        </p:spPr>
        <p:txBody>
          <a:bodyPr wrap="square">
            <a:spAutoFit/>
          </a:bodyPr>
          <a:lstStyle/>
          <a:p>
            <a:pPr algn="l"/>
            <a:r>
              <a:rPr sz="1200" b="0" i="0">
                <a:solidFill>
                  <a:srgbClr val="CCCCCC"/>
                </a:solidFill>
              </a:rPr>
              <a:t>• YOLOv8 — person bounding box detection</a:t>
            </a:r>
          </a:p>
        </p:txBody>
      </p:sp>
      <p:sp>
        <p:nvSpPr>
          <p:cNvPr id="17" name="TextBox 16"/>
          <p:cNvSpPr txBox="1"/>
          <p:nvPr/>
        </p:nvSpPr>
        <p:spPr>
          <a:xfrm>
            <a:off x="6355080" y="4965192"/>
            <a:ext cx="5029200" cy="365760"/>
          </a:xfrm>
          <a:prstGeom prst="rect">
            <a:avLst/>
          </a:prstGeom>
          <a:noFill/>
        </p:spPr>
        <p:txBody>
          <a:bodyPr wrap="square">
            <a:spAutoFit/>
          </a:bodyPr>
          <a:lstStyle/>
          <a:p>
            <a:pPr algn="l"/>
            <a:r>
              <a:rPr sz="1200" b="0" i="0">
                <a:solidFill>
                  <a:srgbClr val="CCCCCC"/>
                </a:solidFill>
              </a:rPr>
              <a:t>• DeepFace / Facenet — face embedding (128-dim)</a:t>
            </a:r>
          </a:p>
        </p:txBody>
      </p:sp>
      <p:sp>
        <p:nvSpPr>
          <p:cNvPr id="18" name="TextBox 17"/>
          <p:cNvSpPr txBox="1"/>
          <p:nvPr/>
        </p:nvSpPr>
        <p:spPr>
          <a:xfrm>
            <a:off x="6355080" y="5312664"/>
            <a:ext cx="5029200" cy="365760"/>
          </a:xfrm>
          <a:prstGeom prst="rect">
            <a:avLst/>
          </a:prstGeom>
          <a:noFill/>
        </p:spPr>
        <p:txBody>
          <a:bodyPr wrap="square">
            <a:spAutoFit/>
          </a:bodyPr>
          <a:lstStyle/>
          <a:p>
            <a:pPr algn="l"/>
            <a:r>
              <a:rPr sz="1200" b="0" i="0">
                <a:solidFill>
                  <a:srgbClr val="CCCCCC"/>
                </a:solidFill>
              </a:rPr>
              <a:t>• Cosine similarity — identity matching</a:t>
            </a:r>
          </a:p>
        </p:txBody>
      </p:sp>
      <p:sp>
        <p:nvSpPr>
          <p:cNvPr id="19" name="TextBox 18"/>
          <p:cNvSpPr txBox="1"/>
          <p:nvPr/>
        </p:nvSpPr>
        <p:spPr>
          <a:xfrm>
            <a:off x="6355080" y="5660136"/>
            <a:ext cx="5029200" cy="365760"/>
          </a:xfrm>
          <a:prstGeom prst="rect">
            <a:avLst/>
          </a:prstGeom>
          <a:noFill/>
        </p:spPr>
        <p:txBody>
          <a:bodyPr wrap="square">
            <a:spAutoFit/>
          </a:bodyPr>
          <a:lstStyle/>
          <a:p>
            <a:pPr algn="l"/>
            <a:r>
              <a:rPr sz="1200" b="0" i="0">
                <a:solidFill>
                  <a:srgbClr val="CCCCCC"/>
                </a:solidFill>
              </a:rPr>
              <a:t>• ffmpeg — H.264 annotated video output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972800" cy="411480"/>
          </a:xfrm>
          <a:prstGeom prst="rect">
            <a:avLst/>
          </a:prstGeom>
          <a:noFill/>
        </p:spPr>
        <p:txBody>
          <a:bodyPr wrap="square">
            <a:spAutoFit/>
          </a:bodyPr>
          <a:lstStyle/>
          <a:p>
            <a:pPr algn="l"/>
            <a:r>
              <a:rPr sz="2000" b="1" i="0">
                <a:solidFill>
                  <a:srgbClr val="FFFFFF"/>
                </a:solidFill>
              </a:rPr>
              <a:t>Demo 1  —  How to Test</a:t>
            </a:r>
          </a:p>
        </p:txBody>
      </p:sp>
      <p:sp>
        <p:nvSpPr>
          <p:cNvPr id="4" name="Rectangle 3"/>
          <p:cNvSpPr/>
          <p:nvPr/>
        </p:nvSpPr>
        <p:spPr>
          <a:xfrm>
            <a:off x="365760" y="731520"/>
            <a:ext cx="1371600" cy="50292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371600" cy="502920"/>
          </a:xfrm>
          <a:prstGeom prst="rect">
            <a:avLst/>
          </a:prstGeom>
          <a:noFill/>
        </p:spPr>
        <p:txBody>
          <a:bodyPr wrap="square">
            <a:spAutoFit/>
          </a:bodyPr>
          <a:lstStyle/>
          <a:p>
            <a:pPr algn="ctr"/>
            <a:r>
              <a:rPr sz="1300" b="1" i="0">
                <a:solidFill>
                  <a:srgbClr val="111111"/>
                </a:solidFill>
              </a:rPr>
              <a:t>Step 1</a:t>
            </a:r>
          </a:p>
        </p:txBody>
      </p:sp>
      <p:sp>
        <p:nvSpPr>
          <p:cNvPr id="6" name="TextBox 5"/>
          <p:cNvSpPr txBox="1"/>
          <p:nvPr/>
        </p:nvSpPr>
        <p:spPr>
          <a:xfrm>
            <a:off x="1920240" y="731520"/>
            <a:ext cx="9875520" cy="457200"/>
          </a:xfrm>
          <a:prstGeom prst="rect">
            <a:avLst/>
          </a:prstGeom>
          <a:noFill/>
        </p:spPr>
        <p:txBody>
          <a:bodyPr wrap="square">
            <a:spAutoFit/>
          </a:bodyPr>
          <a:lstStyle/>
          <a:p>
            <a:pPr algn="l"/>
            <a:r>
              <a:rPr sz="1600" b="1" i="0">
                <a:solidFill>
                  <a:srgbClr val="FFFFFF"/>
                </a:solidFill>
              </a:rPr>
              <a:t>Register Employees</a:t>
            </a:r>
          </a:p>
        </p:txBody>
      </p:sp>
      <p:sp>
        <p:nvSpPr>
          <p:cNvPr id="7" name="TextBox 6"/>
          <p:cNvSpPr txBox="1"/>
          <p:nvPr/>
        </p:nvSpPr>
        <p:spPr>
          <a:xfrm>
            <a:off x="1920240" y="1188720"/>
            <a:ext cx="9875520" cy="822960"/>
          </a:xfrm>
          <a:prstGeom prst="rect">
            <a:avLst/>
          </a:prstGeom>
          <a:noFill/>
        </p:spPr>
        <p:txBody>
          <a:bodyPr wrap="square">
            <a:spAutoFit/>
          </a:bodyPr>
          <a:lstStyle/>
          <a:p>
            <a:pPr algn="l"/>
            <a:r>
              <a:rPr sz="1300" b="0" i="0">
                <a:solidFill>
                  <a:srgbClr val="CCCCCC"/>
                </a:solidFill>
              </a:rPr>
              <a:t>Go to /demo  →  Employee Registration section
Enter name, upload a clear front-facing photo  →  Click Register</a:t>
            </a:r>
          </a:p>
        </p:txBody>
      </p:sp>
      <p:sp>
        <p:nvSpPr>
          <p:cNvPr id="8" name="Rectangle 7"/>
          <p:cNvSpPr/>
          <p:nvPr/>
        </p:nvSpPr>
        <p:spPr>
          <a:xfrm>
            <a:off x="365760" y="2148840"/>
            <a:ext cx="1371600" cy="50292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148840"/>
            <a:ext cx="1371600" cy="502920"/>
          </a:xfrm>
          <a:prstGeom prst="rect">
            <a:avLst/>
          </a:prstGeom>
          <a:noFill/>
        </p:spPr>
        <p:txBody>
          <a:bodyPr wrap="square">
            <a:spAutoFit/>
          </a:bodyPr>
          <a:lstStyle/>
          <a:p>
            <a:pPr algn="ctr"/>
            <a:r>
              <a:rPr sz="1300" b="1" i="0">
                <a:solidFill>
                  <a:srgbClr val="111111"/>
                </a:solidFill>
              </a:rPr>
              <a:t>Step 2</a:t>
            </a:r>
          </a:p>
        </p:txBody>
      </p:sp>
      <p:sp>
        <p:nvSpPr>
          <p:cNvPr id="10" name="TextBox 9"/>
          <p:cNvSpPr txBox="1"/>
          <p:nvPr/>
        </p:nvSpPr>
        <p:spPr>
          <a:xfrm>
            <a:off x="1920240" y="2148840"/>
            <a:ext cx="9875520" cy="457200"/>
          </a:xfrm>
          <a:prstGeom prst="rect">
            <a:avLst/>
          </a:prstGeom>
          <a:noFill/>
        </p:spPr>
        <p:txBody>
          <a:bodyPr wrap="square">
            <a:spAutoFit/>
          </a:bodyPr>
          <a:lstStyle/>
          <a:p>
            <a:pPr algn="l"/>
            <a:r>
              <a:rPr sz="1600" b="1" i="0">
                <a:solidFill>
                  <a:srgbClr val="FFFFFF"/>
                </a:solidFill>
              </a:rPr>
              <a:t>Upload Video</a:t>
            </a:r>
          </a:p>
        </p:txBody>
      </p:sp>
      <p:sp>
        <p:nvSpPr>
          <p:cNvPr id="11" name="TextBox 10"/>
          <p:cNvSpPr txBox="1"/>
          <p:nvPr/>
        </p:nvSpPr>
        <p:spPr>
          <a:xfrm>
            <a:off x="1920240" y="2606040"/>
            <a:ext cx="9875520" cy="822960"/>
          </a:xfrm>
          <a:prstGeom prst="rect">
            <a:avLst/>
          </a:prstGeom>
          <a:noFill/>
        </p:spPr>
        <p:txBody>
          <a:bodyPr wrap="square">
            <a:spAutoFit/>
          </a:bodyPr>
          <a:lstStyle/>
          <a:p>
            <a:pPr algn="l"/>
            <a:r>
              <a:rPr sz="1300" b="0" i="0">
                <a:solidFill>
                  <a:srgbClr val="CCCCCC"/>
                </a:solidFill>
              </a:rPr>
              <a:t>Go to /demo  →  Uploaded Videos section
Choose a video file containing the registered employee  →  Click Upload &amp; Process</a:t>
            </a:r>
          </a:p>
        </p:txBody>
      </p:sp>
      <p:sp>
        <p:nvSpPr>
          <p:cNvPr id="12" name="Rectangle 11"/>
          <p:cNvSpPr/>
          <p:nvPr/>
        </p:nvSpPr>
        <p:spPr>
          <a:xfrm>
            <a:off x="365760" y="3566160"/>
            <a:ext cx="1371600" cy="50292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3566160"/>
            <a:ext cx="1371600" cy="502920"/>
          </a:xfrm>
          <a:prstGeom prst="rect">
            <a:avLst/>
          </a:prstGeom>
          <a:noFill/>
        </p:spPr>
        <p:txBody>
          <a:bodyPr wrap="square">
            <a:spAutoFit/>
          </a:bodyPr>
          <a:lstStyle/>
          <a:p>
            <a:pPr algn="ctr"/>
            <a:r>
              <a:rPr sz="1300" b="1" i="0">
                <a:solidFill>
                  <a:srgbClr val="111111"/>
                </a:solidFill>
              </a:rPr>
              <a:t>Step 3</a:t>
            </a:r>
          </a:p>
        </p:txBody>
      </p:sp>
      <p:sp>
        <p:nvSpPr>
          <p:cNvPr id="14" name="TextBox 13"/>
          <p:cNvSpPr txBox="1"/>
          <p:nvPr/>
        </p:nvSpPr>
        <p:spPr>
          <a:xfrm>
            <a:off x="1920240" y="3566160"/>
            <a:ext cx="9875520" cy="457200"/>
          </a:xfrm>
          <a:prstGeom prst="rect">
            <a:avLst/>
          </a:prstGeom>
          <a:noFill/>
        </p:spPr>
        <p:txBody>
          <a:bodyPr wrap="square">
            <a:spAutoFit/>
          </a:bodyPr>
          <a:lstStyle/>
          <a:p>
            <a:pPr algn="l"/>
            <a:r>
              <a:rPr sz="1600" b="1" i="0">
                <a:solidFill>
                  <a:srgbClr val="FFFFFF"/>
                </a:solidFill>
              </a:rPr>
              <a:t>Watch Progress</a:t>
            </a:r>
          </a:p>
        </p:txBody>
      </p:sp>
      <p:sp>
        <p:nvSpPr>
          <p:cNvPr id="15" name="TextBox 14"/>
          <p:cNvSpPr txBox="1"/>
          <p:nvPr/>
        </p:nvSpPr>
        <p:spPr>
          <a:xfrm>
            <a:off x="1920240" y="4023360"/>
            <a:ext cx="9875520" cy="822960"/>
          </a:xfrm>
          <a:prstGeom prst="rect">
            <a:avLst/>
          </a:prstGeom>
          <a:noFill/>
        </p:spPr>
        <p:txBody>
          <a:bodyPr wrap="square">
            <a:spAutoFit/>
          </a:bodyPr>
          <a:lstStyle/>
          <a:p>
            <a:pPr algn="l"/>
            <a:r>
              <a:rPr sz="1300" b="0" i="0">
                <a:solidFill>
                  <a:srgbClr val="CCCCCC"/>
                </a:solidFill>
              </a:rPr>
              <a:t>The Processed Frames counter updates in real-time (no page refresh needed)
Status changes: uploaded  →  processing  →  completed</a:t>
            </a:r>
          </a:p>
        </p:txBody>
      </p:sp>
      <p:sp>
        <p:nvSpPr>
          <p:cNvPr id="16" name="Rectangle 15"/>
          <p:cNvSpPr/>
          <p:nvPr/>
        </p:nvSpPr>
        <p:spPr>
          <a:xfrm>
            <a:off x="365760" y="4983480"/>
            <a:ext cx="1371600" cy="50292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983480"/>
            <a:ext cx="1371600" cy="502920"/>
          </a:xfrm>
          <a:prstGeom prst="rect">
            <a:avLst/>
          </a:prstGeom>
          <a:noFill/>
        </p:spPr>
        <p:txBody>
          <a:bodyPr wrap="square">
            <a:spAutoFit/>
          </a:bodyPr>
          <a:lstStyle/>
          <a:p>
            <a:pPr algn="ctr"/>
            <a:r>
              <a:rPr sz="1300" b="1" i="0">
                <a:solidFill>
                  <a:srgbClr val="111111"/>
                </a:solidFill>
              </a:rPr>
              <a:t>Step 4</a:t>
            </a:r>
          </a:p>
        </p:txBody>
      </p:sp>
      <p:sp>
        <p:nvSpPr>
          <p:cNvPr id="18" name="TextBox 17"/>
          <p:cNvSpPr txBox="1"/>
          <p:nvPr/>
        </p:nvSpPr>
        <p:spPr>
          <a:xfrm>
            <a:off x="1920240" y="4983480"/>
            <a:ext cx="9875520" cy="457200"/>
          </a:xfrm>
          <a:prstGeom prst="rect">
            <a:avLst/>
          </a:prstGeom>
          <a:noFill/>
        </p:spPr>
        <p:txBody>
          <a:bodyPr wrap="square">
            <a:spAutoFit/>
          </a:bodyPr>
          <a:lstStyle/>
          <a:p>
            <a:pPr algn="l"/>
            <a:r>
              <a:rPr sz="1600" b="1" i="0">
                <a:solidFill>
                  <a:srgbClr val="FFFFFF"/>
                </a:solidFill>
              </a:rPr>
              <a:t>View Annotated Output</a:t>
            </a:r>
          </a:p>
        </p:txBody>
      </p:sp>
      <p:sp>
        <p:nvSpPr>
          <p:cNvPr id="19" name="TextBox 18"/>
          <p:cNvSpPr txBox="1"/>
          <p:nvPr/>
        </p:nvSpPr>
        <p:spPr>
          <a:xfrm>
            <a:off x="1920240" y="5440680"/>
            <a:ext cx="9875520" cy="822960"/>
          </a:xfrm>
          <a:prstGeom prst="rect">
            <a:avLst/>
          </a:prstGeom>
          <a:noFill/>
        </p:spPr>
        <p:txBody>
          <a:bodyPr wrap="square">
            <a:spAutoFit/>
          </a:bodyPr>
          <a:lstStyle/>
          <a:p>
            <a:pPr algn="l"/>
            <a:r>
              <a:rPr sz="1300" b="0" i="0">
                <a:solidFill>
                  <a:srgbClr val="CCCCCC"/>
                </a:solidFill>
              </a:rPr>
              <a:t>Click the View button in the Processed Videos table
Green box = identified employee with name label
Red box = unknown person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972800" cy="411480"/>
          </a:xfrm>
          <a:prstGeom prst="rect">
            <a:avLst/>
          </a:prstGeom>
          <a:noFill/>
        </p:spPr>
        <p:txBody>
          <a:bodyPr wrap="square">
            <a:spAutoFit/>
          </a:bodyPr>
          <a:lstStyle/>
          <a:p>
            <a:pPr algn="l"/>
            <a:r>
              <a:rPr sz="2000" b="1" i="0">
                <a:solidFill>
                  <a:srgbClr val="FFFFFF"/>
                </a:solidFill>
              </a:rPr>
              <a:t>Demo 2  —  Unauthorized Entry Detection</a:t>
            </a:r>
          </a:p>
        </p:txBody>
      </p:sp>
      <p:sp>
        <p:nvSpPr>
          <p:cNvPr id="4" name="TextBox 3"/>
          <p:cNvSpPr txBox="1"/>
          <p:nvPr/>
        </p:nvSpPr>
        <p:spPr>
          <a:xfrm>
            <a:off x="457200" y="685800"/>
            <a:ext cx="10972800" cy="457200"/>
          </a:xfrm>
          <a:prstGeom prst="rect">
            <a:avLst/>
          </a:prstGeom>
          <a:noFill/>
        </p:spPr>
        <p:txBody>
          <a:bodyPr wrap="square">
            <a:spAutoFit/>
          </a:bodyPr>
          <a:lstStyle/>
          <a:p>
            <a:pPr algn="l"/>
            <a:r>
              <a:rPr sz="2400" b="1" i="0" dirty="0">
                <a:solidFill>
                  <a:srgbClr val="EF4444"/>
                </a:solidFill>
              </a:rPr>
              <a:t>What it does</a:t>
            </a:r>
          </a:p>
        </p:txBody>
      </p:sp>
      <p:sp>
        <p:nvSpPr>
          <p:cNvPr id="5" name="TextBox 4"/>
          <p:cNvSpPr txBox="1"/>
          <p:nvPr/>
        </p:nvSpPr>
        <p:spPr>
          <a:xfrm>
            <a:off x="457200" y="1097280"/>
            <a:ext cx="11247120" cy="584775"/>
          </a:xfrm>
          <a:prstGeom prst="rect">
            <a:avLst/>
          </a:prstGeom>
          <a:noFill/>
        </p:spPr>
        <p:txBody>
          <a:bodyPr wrap="square">
            <a:spAutoFit/>
          </a:bodyPr>
          <a:lstStyle/>
          <a:p>
            <a:pPr algn="l"/>
            <a:r>
              <a:rPr sz="1600" b="0" i="0" dirty="0">
                <a:solidFill>
                  <a:srgbClr val="CCCCCC"/>
                </a:solidFill>
              </a:rPr>
              <a:t>Scans an uploaded video and compares every detected person's face against the registered employee database. Each person is labelled Authorized (Green) or Unauthorized (Red) in the annotated output video, and unauthorized events are logged.</a:t>
            </a:r>
          </a:p>
        </p:txBody>
      </p:sp>
      <p:sp>
        <p:nvSpPr>
          <p:cNvPr id="6" name="Rectangle 5"/>
          <p:cNvSpPr/>
          <p:nvPr/>
        </p:nvSpPr>
        <p:spPr>
          <a:xfrm>
            <a:off x="516635" y="2057400"/>
            <a:ext cx="1691640"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16635" y="2313433"/>
            <a:ext cx="1691640" cy="307777"/>
          </a:xfrm>
          <a:prstGeom prst="rect">
            <a:avLst/>
          </a:prstGeom>
          <a:noFill/>
        </p:spPr>
        <p:txBody>
          <a:bodyPr wrap="square">
            <a:spAutoFit/>
          </a:bodyPr>
          <a:lstStyle/>
          <a:p>
            <a:pPr algn="ctr"/>
            <a:r>
              <a:rPr sz="1400" b="1" i="0" dirty="0">
                <a:solidFill>
                  <a:srgbClr val="FFFFFF"/>
                </a:solidFill>
              </a:rPr>
              <a:t>Upload Video</a:t>
            </a:r>
          </a:p>
        </p:txBody>
      </p:sp>
      <p:sp>
        <p:nvSpPr>
          <p:cNvPr id="8" name="TextBox 7"/>
          <p:cNvSpPr txBox="1"/>
          <p:nvPr/>
        </p:nvSpPr>
        <p:spPr>
          <a:xfrm>
            <a:off x="2208275" y="2286000"/>
            <a:ext cx="246888" cy="457200"/>
          </a:xfrm>
          <a:prstGeom prst="rect">
            <a:avLst/>
          </a:prstGeom>
          <a:noFill/>
        </p:spPr>
        <p:txBody>
          <a:bodyPr wrap="square">
            <a:spAutoFit/>
          </a:bodyPr>
          <a:lstStyle/>
          <a:p>
            <a:pPr algn="ctr"/>
            <a:r>
              <a:rPr sz="1600" b="1" i="0">
                <a:solidFill>
                  <a:srgbClr val="CCCCCC"/>
                </a:solidFill>
              </a:rPr>
              <a:t>→</a:t>
            </a:r>
          </a:p>
        </p:txBody>
      </p:sp>
      <p:sp>
        <p:nvSpPr>
          <p:cNvPr id="9" name="Rectangle 8"/>
          <p:cNvSpPr/>
          <p:nvPr/>
        </p:nvSpPr>
        <p:spPr>
          <a:xfrm>
            <a:off x="2409444" y="2057400"/>
            <a:ext cx="1691640"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93441" y="2243562"/>
            <a:ext cx="1691640" cy="523220"/>
          </a:xfrm>
          <a:prstGeom prst="rect">
            <a:avLst/>
          </a:prstGeom>
          <a:noFill/>
        </p:spPr>
        <p:txBody>
          <a:bodyPr wrap="square">
            <a:spAutoFit/>
          </a:bodyPr>
          <a:lstStyle/>
          <a:p>
            <a:pPr algn="ctr"/>
            <a:r>
              <a:rPr sz="1400" b="1" i="0" dirty="0">
                <a:solidFill>
                  <a:srgbClr val="FFFFFF"/>
                </a:solidFill>
              </a:rPr>
              <a:t>YOLO v8
Detects Persons</a:t>
            </a:r>
          </a:p>
        </p:txBody>
      </p:sp>
      <p:sp>
        <p:nvSpPr>
          <p:cNvPr id="11" name="TextBox 10"/>
          <p:cNvSpPr txBox="1"/>
          <p:nvPr/>
        </p:nvSpPr>
        <p:spPr>
          <a:xfrm>
            <a:off x="4101083" y="2286000"/>
            <a:ext cx="246888" cy="457200"/>
          </a:xfrm>
          <a:prstGeom prst="rect">
            <a:avLst/>
          </a:prstGeom>
          <a:noFill/>
        </p:spPr>
        <p:txBody>
          <a:bodyPr wrap="square">
            <a:spAutoFit/>
          </a:bodyPr>
          <a:lstStyle/>
          <a:p>
            <a:pPr algn="ctr"/>
            <a:r>
              <a:rPr sz="1600" b="1" i="0">
                <a:solidFill>
                  <a:srgbClr val="CCCCCC"/>
                </a:solidFill>
              </a:rPr>
              <a:t>→</a:t>
            </a:r>
          </a:p>
        </p:txBody>
      </p:sp>
      <p:sp>
        <p:nvSpPr>
          <p:cNvPr id="12" name="Rectangle 11"/>
          <p:cNvSpPr/>
          <p:nvPr/>
        </p:nvSpPr>
        <p:spPr>
          <a:xfrm>
            <a:off x="4302252" y="2057400"/>
            <a:ext cx="1691640"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79392" y="2243562"/>
            <a:ext cx="1691640" cy="523220"/>
          </a:xfrm>
          <a:prstGeom prst="rect">
            <a:avLst/>
          </a:prstGeom>
          <a:noFill/>
        </p:spPr>
        <p:txBody>
          <a:bodyPr wrap="square">
            <a:spAutoFit/>
          </a:bodyPr>
          <a:lstStyle/>
          <a:p>
            <a:pPr algn="ctr"/>
            <a:r>
              <a:rPr sz="1400" b="1" i="0" dirty="0" err="1">
                <a:solidFill>
                  <a:srgbClr val="FFFFFF"/>
                </a:solidFill>
              </a:rPr>
              <a:t>Facenet</a:t>
            </a:r>
            <a:r>
              <a:rPr sz="1400" b="1" i="0" dirty="0">
                <a:solidFill>
                  <a:srgbClr val="FFFFFF"/>
                </a:solidFill>
              </a:rPr>
              <a:t>
Embedding</a:t>
            </a:r>
          </a:p>
        </p:txBody>
      </p:sp>
      <p:sp>
        <p:nvSpPr>
          <p:cNvPr id="14" name="TextBox 13"/>
          <p:cNvSpPr txBox="1"/>
          <p:nvPr/>
        </p:nvSpPr>
        <p:spPr>
          <a:xfrm>
            <a:off x="5993892" y="2286000"/>
            <a:ext cx="246888" cy="457200"/>
          </a:xfrm>
          <a:prstGeom prst="rect">
            <a:avLst/>
          </a:prstGeom>
          <a:noFill/>
        </p:spPr>
        <p:txBody>
          <a:bodyPr wrap="square">
            <a:spAutoFit/>
          </a:bodyPr>
          <a:lstStyle/>
          <a:p>
            <a:pPr algn="ctr"/>
            <a:r>
              <a:rPr sz="1600" b="1" i="0">
                <a:solidFill>
                  <a:srgbClr val="CCCCCC"/>
                </a:solidFill>
              </a:rPr>
              <a:t>→</a:t>
            </a:r>
          </a:p>
        </p:txBody>
      </p:sp>
      <p:sp>
        <p:nvSpPr>
          <p:cNvPr id="15" name="Rectangle 14"/>
          <p:cNvSpPr/>
          <p:nvPr/>
        </p:nvSpPr>
        <p:spPr>
          <a:xfrm>
            <a:off x="6195060" y="2057400"/>
            <a:ext cx="1691640"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65343" y="2243562"/>
            <a:ext cx="1691640" cy="523220"/>
          </a:xfrm>
          <a:prstGeom prst="rect">
            <a:avLst/>
          </a:prstGeom>
          <a:noFill/>
        </p:spPr>
        <p:txBody>
          <a:bodyPr wrap="square">
            <a:spAutoFit/>
          </a:bodyPr>
          <a:lstStyle/>
          <a:p>
            <a:pPr algn="ctr"/>
            <a:r>
              <a:rPr sz="1400" b="1" i="0" dirty="0">
                <a:solidFill>
                  <a:srgbClr val="FFFFFF"/>
                </a:solidFill>
              </a:rPr>
              <a:t>Cosine Match
vs Employee DB</a:t>
            </a:r>
          </a:p>
        </p:txBody>
      </p:sp>
      <p:sp>
        <p:nvSpPr>
          <p:cNvPr id="17" name="TextBox 16"/>
          <p:cNvSpPr txBox="1"/>
          <p:nvPr/>
        </p:nvSpPr>
        <p:spPr>
          <a:xfrm>
            <a:off x="7886700" y="2286000"/>
            <a:ext cx="246888" cy="457200"/>
          </a:xfrm>
          <a:prstGeom prst="rect">
            <a:avLst/>
          </a:prstGeom>
          <a:noFill/>
        </p:spPr>
        <p:txBody>
          <a:bodyPr wrap="square">
            <a:spAutoFit/>
          </a:bodyPr>
          <a:lstStyle/>
          <a:p>
            <a:pPr algn="ctr"/>
            <a:r>
              <a:rPr sz="1600" b="1" i="0">
                <a:solidFill>
                  <a:srgbClr val="CCCCCC"/>
                </a:solidFill>
              </a:rPr>
              <a:t>→</a:t>
            </a:r>
          </a:p>
        </p:txBody>
      </p:sp>
      <p:sp>
        <p:nvSpPr>
          <p:cNvPr id="18" name="Rectangle 17"/>
          <p:cNvSpPr/>
          <p:nvPr/>
        </p:nvSpPr>
        <p:spPr>
          <a:xfrm>
            <a:off x="8087868" y="2057400"/>
            <a:ext cx="1691640" cy="86868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03744" y="2243562"/>
            <a:ext cx="1691640" cy="523220"/>
          </a:xfrm>
          <a:prstGeom prst="rect">
            <a:avLst/>
          </a:prstGeom>
          <a:noFill/>
        </p:spPr>
        <p:txBody>
          <a:bodyPr wrap="square">
            <a:spAutoFit/>
          </a:bodyPr>
          <a:lstStyle/>
          <a:p>
            <a:pPr algn="ctr"/>
            <a:r>
              <a:rPr sz="1400" b="1" i="0" dirty="0">
                <a:solidFill>
                  <a:srgbClr val="111111"/>
                </a:solidFill>
              </a:rPr>
              <a:t>Authorized
(Green)</a:t>
            </a:r>
          </a:p>
        </p:txBody>
      </p:sp>
      <p:sp>
        <p:nvSpPr>
          <p:cNvPr id="20" name="TextBox 19"/>
          <p:cNvSpPr txBox="1"/>
          <p:nvPr/>
        </p:nvSpPr>
        <p:spPr>
          <a:xfrm>
            <a:off x="9779508" y="2286000"/>
            <a:ext cx="246888" cy="457200"/>
          </a:xfrm>
          <a:prstGeom prst="rect">
            <a:avLst/>
          </a:prstGeom>
          <a:noFill/>
        </p:spPr>
        <p:txBody>
          <a:bodyPr wrap="square">
            <a:spAutoFit/>
          </a:bodyPr>
          <a:lstStyle/>
          <a:p>
            <a:pPr algn="ctr"/>
            <a:r>
              <a:rPr sz="1600" b="1" i="0">
                <a:solidFill>
                  <a:srgbClr val="CCCCCC"/>
                </a:solidFill>
              </a:rPr>
              <a:t>→</a:t>
            </a:r>
          </a:p>
        </p:txBody>
      </p:sp>
      <p:sp>
        <p:nvSpPr>
          <p:cNvPr id="21" name="Rectangle 20"/>
          <p:cNvSpPr/>
          <p:nvPr/>
        </p:nvSpPr>
        <p:spPr>
          <a:xfrm>
            <a:off x="9980676" y="2057400"/>
            <a:ext cx="1691640" cy="8686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994392" y="2255286"/>
            <a:ext cx="1691640" cy="523220"/>
          </a:xfrm>
          <a:prstGeom prst="rect">
            <a:avLst/>
          </a:prstGeom>
          <a:noFill/>
        </p:spPr>
        <p:txBody>
          <a:bodyPr wrap="square">
            <a:spAutoFit/>
          </a:bodyPr>
          <a:lstStyle/>
          <a:p>
            <a:pPr algn="ctr"/>
            <a:r>
              <a:rPr sz="1400" b="1" i="0" dirty="0">
                <a:solidFill>
                  <a:srgbClr val="111111"/>
                </a:solidFill>
              </a:rPr>
              <a:t>Unauthorized
(Red)</a:t>
            </a:r>
          </a:p>
        </p:txBody>
      </p:sp>
      <p:sp>
        <p:nvSpPr>
          <p:cNvPr id="23" name="Rectangle 22"/>
          <p:cNvSpPr/>
          <p:nvPr/>
        </p:nvSpPr>
        <p:spPr>
          <a:xfrm>
            <a:off x="365760" y="3154680"/>
            <a:ext cx="3657600" cy="3474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3154680"/>
            <a:ext cx="137160" cy="347472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246120"/>
            <a:ext cx="3291840" cy="338554"/>
          </a:xfrm>
          <a:prstGeom prst="rect">
            <a:avLst/>
          </a:prstGeom>
          <a:noFill/>
        </p:spPr>
        <p:txBody>
          <a:bodyPr wrap="square">
            <a:spAutoFit/>
          </a:bodyPr>
          <a:lstStyle/>
          <a:p>
            <a:pPr algn="l"/>
            <a:r>
              <a:rPr sz="1600" b="1" i="0" dirty="0">
                <a:solidFill>
                  <a:srgbClr val="19C37D"/>
                </a:solidFill>
              </a:rPr>
              <a:t>Authorized Person</a:t>
            </a:r>
          </a:p>
        </p:txBody>
      </p:sp>
      <p:sp>
        <p:nvSpPr>
          <p:cNvPr id="26" name="TextBox 25"/>
          <p:cNvSpPr txBox="1"/>
          <p:nvPr/>
        </p:nvSpPr>
        <p:spPr>
          <a:xfrm>
            <a:off x="640080" y="3749039"/>
            <a:ext cx="3246120" cy="2136482"/>
          </a:xfrm>
          <a:prstGeom prst="rect">
            <a:avLst/>
          </a:prstGeom>
          <a:noFill/>
        </p:spPr>
        <p:txBody>
          <a:bodyPr wrap="square">
            <a:spAutoFit/>
          </a:bodyPr>
          <a:lstStyle/>
          <a:p>
            <a:pPr>
              <a:spcBef>
                <a:spcPts val="500"/>
              </a:spcBef>
            </a:pPr>
            <a:r>
              <a:rPr sz="1400" dirty="0">
                <a:solidFill>
                  <a:srgbClr val="CCCCCC"/>
                </a:solidFill>
              </a:rPr>
              <a:t>• Face detected in video frame</a:t>
            </a:r>
          </a:p>
          <a:p>
            <a:pPr>
              <a:spcBef>
                <a:spcPts val="500"/>
              </a:spcBef>
            </a:pPr>
            <a:r>
              <a:rPr sz="1400" dirty="0">
                <a:solidFill>
                  <a:srgbClr val="CCCCCC"/>
                </a:solidFill>
              </a:rPr>
              <a:t>• </a:t>
            </a:r>
            <a:r>
              <a:rPr sz="1400" dirty="0" err="1">
                <a:solidFill>
                  <a:srgbClr val="CCCCCC"/>
                </a:solidFill>
              </a:rPr>
              <a:t>Facenet</a:t>
            </a:r>
            <a:r>
              <a:rPr sz="1400" dirty="0">
                <a:solidFill>
                  <a:srgbClr val="CCCCCC"/>
                </a:solidFill>
              </a:rPr>
              <a:t> 128-dim embedding extracted</a:t>
            </a:r>
          </a:p>
          <a:p>
            <a:pPr>
              <a:spcBef>
                <a:spcPts val="500"/>
              </a:spcBef>
            </a:pPr>
            <a:r>
              <a:rPr sz="1400" dirty="0">
                <a:solidFill>
                  <a:srgbClr val="CCCCCC"/>
                </a:solidFill>
              </a:rPr>
              <a:t>• Cosine similarity &gt;= 0.55 against a registered employee embedding</a:t>
            </a:r>
          </a:p>
          <a:p>
            <a:pPr>
              <a:spcBef>
                <a:spcPts val="500"/>
              </a:spcBef>
            </a:pPr>
            <a:r>
              <a:rPr sz="1400" dirty="0">
                <a:solidFill>
                  <a:srgbClr val="CCCCCC"/>
                </a:solidFill>
              </a:rPr>
              <a:t>• GREEN bounding box drawn</a:t>
            </a:r>
          </a:p>
          <a:p>
            <a:pPr>
              <a:spcBef>
                <a:spcPts val="500"/>
              </a:spcBef>
            </a:pPr>
            <a:r>
              <a:rPr sz="1400" dirty="0">
                <a:solidFill>
                  <a:srgbClr val="CCCCCC"/>
                </a:solidFill>
              </a:rPr>
              <a:t>• Employee name + confidence score shown as label</a:t>
            </a:r>
          </a:p>
          <a:p>
            <a:pPr>
              <a:spcBef>
                <a:spcPts val="500"/>
              </a:spcBef>
            </a:pPr>
            <a:r>
              <a:rPr sz="1400" dirty="0">
                <a:solidFill>
                  <a:srgbClr val="CCCCCC"/>
                </a:solidFill>
              </a:rPr>
              <a:t>• Person's identity confirmed and logged</a:t>
            </a:r>
          </a:p>
        </p:txBody>
      </p:sp>
      <p:sp>
        <p:nvSpPr>
          <p:cNvPr id="27" name="Rectangle 26"/>
          <p:cNvSpPr/>
          <p:nvPr/>
        </p:nvSpPr>
        <p:spPr>
          <a:xfrm>
            <a:off x="4270248" y="3154680"/>
            <a:ext cx="3657600" cy="3474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270248" y="3154680"/>
            <a:ext cx="137160" cy="3474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44568" y="3246120"/>
            <a:ext cx="3291840" cy="338554"/>
          </a:xfrm>
          <a:prstGeom prst="rect">
            <a:avLst/>
          </a:prstGeom>
          <a:noFill/>
        </p:spPr>
        <p:txBody>
          <a:bodyPr wrap="square">
            <a:spAutoFit/>
          </a:bodyPr>
          <a:lstStyle/>
          <a:p>
            <a:pPr algn="l"/>
            <a:r>
              <a:rPr sz="1600" b="1" i="0" dirty="0">
                <a:solidFill>
                  <a:srgbClr val="EF4444"/>
                </a:solidFill>
              </a:rPr>
              <a:t>Unauthorized Person</a:t>
            </a:r>
          </a:p>
        </p:txBody>
      </p:sp>
      <p:sp>
        <p:nvSpPr>
          <p:cNvPr id="30" name="TextBox 29"/>
          <p:cNvSpPr txBox="1"/>
          <p:nvPr/>
        </p:nvSpPr>
        <p:spPr>
          <a:xfrm>
            <a:off x="4544568" y="3749039"/>
            <a:ext cx="3246120" cy="1856919"/>
          </a:xfrm>
          <a:prstGeom prst="rect">
            <a:avLst/>
          </a:prstGeom>
          <a:noFill/>
        </p:spPr>
        <p:txBody>
          <a:bodyPr wrap="square">
            <a:spAutoFit/>
          </a:bodyPr>
          <a:lstStyle/>
          <a:p>
            <a:pPr>
              <a:spcBef>
                <a:spcPts val="500"/>
              </a:spcBef>
            </a:pPr>
            <a:r>
              <a:rPr sz="1400" dirty="0">
                <a:solidFill>
                  <a:srgbClr val="CCCCCC"/>
                </a:solidFill>
              </a:rPr>
              <a:t>• Face detected but similarity &lt; 0.55 for ALL employees</a:t>
            </a:r>
          </a:p>
          <a:p>
            <a:pPr>
              <a:spcBef>
                <a:spcPts val="500"/>
              </a:spcBef>
            </a:pPr>
            <a:r>
              <a:rPr sz="1400" dirty="0">
                <a:solidFill>
                  <a:srgbClr val="CCCCCC"/>
                </a:solidFill>
              </a:rPr>
              <a:t>• OR no face detected in person crop</a:t>
            </a:r>
          </a:p>
          <a:p>
            <a:pPr>
              <a:spcBef>
                <a:spcPts val="500"/>
              </a:spcBef>
            </a:pPr>
            <a:r>
              <a:rPr sz="1400" dirty="0">
                <a:solidFill>
                  <a:srgbClr val="CCCCCC"/>
                </a:solidFill>
              </a:rPr>
              <a:t>• RED bounding box drawn</a:t>
            </a:r>
          </a:p>
          <a:p>
            <a:pPr>
              <a:spcBef>
                <a:spcPts val="500"/>
              </a:spcBef>
            </a:pPr>
            <a:r>
              <a:rPr sz="1400" dirty="0">
                <a:solidFill>
                  <a:srgbClr val="CCCCCC"/>
                </a:solidFill>
              </a:rPr>
              <a:t>• Label shows 'Unauthorized'</a:t>
            </a:r>
          </a:p>
          <a:p>
            <a:pPr>
              <a:spcBef>
                <a:spcPts val="500"/>
              </a:spcBef>
            </a:pPr>
            <a:r>
              <a:rPr sz="1400" dirty="0">
                <a:solidFill>
                  <a:srgbClr val="CCCCCC"/>
                </a:solidFill>
              </a:rPr>
              <a:t>• Unauthorized entry event recorded in DB</a:t>
            </a:r>
          </a:p>
        </p:txBody>
      </p:sp>
      <p:sp>
        <p:nvSpPr>
          <p:cNvPr id="31" name="Rectangle 30"/>
          <p:cNvSpPr/>
          <p:nvPr/>
        </p:nvSpPr>
        <p:spPr>
          <a:xfrm>
            <a:off x="8165592" y="3154680"/>
            <a:ext cx="3657600" cy="3474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65592" y="3154680"/>
            <a:ext cx="137160" cy="3474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39912" y="3246120"/>
            <a:ext cx="3291840" cy="338554"/>
          </a:xfrm>
          <a:prstGeom prst="rect">
            <a:avLst/>
          </a:prstGeom>
          <a:noFill/>
        </p:spPr>
        <p:txBody>
          <a:bodyPr wrap="square">
            <a:spAutoFit/>
          </a:bodyPr>
          <a:lstStyle/>
          <a:p>
            <a:pPr algn="l"/>
            <a:r>
              <a:rPr sz="1600" b="1" i="0" dirty="0">
                <a:solidFill>
                  <a:srgbClr val="3B82F6"/>
                </a:solidFill>
              </a:rPr>
              <a:t>Key Technology</a:t>
            </a:r>
          </a:p>
        </p:txBody>
      </p:sp>
      <p:sp>
        <p:nvSpPr>
          <p:cNvPr id="34" name="TextBox 33"/>
          <p:cNvSpPr txBox="1"/>
          <p:nvPr/>
        </p:nvSpPr>
        <p:spPr>
          <a:xfrm>
            <a:off x="8439912" y="3749039"/>
            <a:ext cx="3246120" cy="2567369"/>
          </a:xfrm>
          <a:prstGeom prst="rect">
            <a:avLst/>
          </a:prstGeom>
          <a:noFill/>
        </p:spPr>
        <p:txBody>
          <a:bodyPr wrap="square">
            <a:spAutoFit/>
          </a:bodyPr>
          <a:lstStyle/>
          <a:p>
            <a:pPr>
              <a:spcBef>
                <a:spcPts val="500"/>
              </a:spcBef>
            </a:pPr>
            <a:r>
              <a:rPr sz="1400" dirty="0">
                <a:solidFill>
                  <a:srgbClr val="CCCCCC"/>
                </a:solidFill>
              </a:rPr>
              <a:t>• YOLOv8 — person bounding box (COCO class 0)</a:t>
            </a:r>
          </a:p>
          <a:p>
            <a:pPr>
              <a:spcBef>
                <a:spcPts val="500"/>
              </a:spcBef>
            </a:pPr>
            <a:r>
              <a:rPr sz="1400" dirty="0">
                <a:solidFill>
                  <a:srgbClr val="CCCCCC"/>
                </a:solidFill>
              </a:rPr>
              <a:t>• </a:t>
            </a:r>
            <a:r>
              <a:rPr sz="1400" dirty="0" err="1">
                <a:solidFill>
                  <a:srgbClr val="CCCCCC"/>
                </a:solidFill>
              </a:rPr>
              <a:t>DeepFace</a:t>
            </a:r>
            <a:r>
              <a:rPr sz="1400" dirty="0">
                <a:solidFill>
                  <a:srgbClr val="CCCCCC"/>
                </a:solidFill>
              </a:rPr>
              <a:t> / </a:t>
            </a:r>
            <a:r>
              <a:rPr sz="1400" dirty="0" err="1">
                <a:solidFill>
                  <a:srgbClr val="CCCCCC"/>
                </a:solidFill>
              </a:rPr>
              <a:t>Facenet</a:t>
            </a:r>
            <a:r>
              <a:rPr sz="1400" dirty="0">
                <a:solidFill>
                  <a:srgbClr val="CCCCCC"/>
                </a:solidFill>
              </a:rPr>
              <a:t> — 128-dim face embedding</a:t>
            </a:r>
          </a:p>
          <a:p>
            <a:pPr>
              <a:spcBef>
                <a:spcPts val="500"/>
              </a:spcBef>
            </a:pPr>
            <a:r>
              <a:rPr sz="1400" dirty="0">
                <a:solidFill>
                  <a:srgbClr val="CCCCCC"/>
                </a:solidFill>
              </a:rPr>
              <a:t>• Cosine similarity — identity matching</a:t>
            </a:r>
          </a:p>
          <a:p>
            <a:pPr>
              <a:spcBef>
                <a:spcPts val="500"/>
              </a:spcBef>
            </a:pPr>
            <a:r>
              <a:rPr sz="1400" dirty="0">
                <a:solidFill>
                  <a:srgbClr val="CCCCCC"/>
                </a:solidFill>
              </a:rPr>
              <a:t>• Similarity threshold: 0.55</a:t>
            </a:r>
          </a:p>
          <a:p>
            <a:pPr>
              <a:spcBef>
                <a:spcPts val="500"/>
              </a:spcBef>
            </a:pPr>
            <a:r>
              <a:rPr sz="1400" dirty="0">
                <a:solidFill>
                  <a:srgbClr val="CCCCCC"/>
                </a:solidFill>
              </a:rPr>
              <a:t>• </a:t>
            </a:r>
            <a:r>
              <a:rPr sz="1400" dirty="0" err="1">
                <a:solidFill>
                  <a:srgbClr val="CCCCCC"/>
                </a:solidFill>
              </a:rPr>
              <a:t>last_boxes</a:t>
            </a:r>
            <a:r>
              <a:rPr sz="1400" dirty="0">
                <a:solidFill>
                  <a:srgbClr val="CCCCCC"/>
                </a:solidFill>
              </a:rPr>
              <a:t> pattern — stable annotations on every frame</a:t>
            </a:r>
          </a:p>
          <a:p>
            <a:pPr>
              <a:spcBef>
                <a:spcPts val="500"/>
              </a:spcBef>
            </a:pPr>
            <a:r>
              <a:rPr sz="1400" dirty="0">
                <a:solidFill>
                  <a:srgbClr val="CCCCCC"/>
                </a:solidFill>
              </a:rPr>
              <a:t>• </a:t>
            </a:r>
            <a:r>
              <a:rPr sz="1400" dirty="0" err="1">
                <a:solidFill>
                  <a:srgbClr val="CCCCCC"/>
                </a:solidFill>
              </a:rPr>
              <a:t>ffmpeg</a:t>
            </a:r>
            <a:r>
              <a:rPr sz="1400" dirty="0">
                <a:solidFill>
                  <a:srgbClr val="CCCCCC"/>
                </a:solidFill>
              </a:rPr>
              <a:t> pipe — H.264 browser-playable output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972800" cy="411480"/>
          </a:xfrm>
          <a:prstGeom prst="rect">
            <a:avLst/>
          </a:prstGeom>
          <a:noFill/>
        </p:spPr>
        <p:txBody>
          <a:bodyPr wrap="square">
            <a:spAutoFit/>
          </a:bodyPr>
          <a:lstStyle/>
          <a:p>
            <a:pPr algn="l"/>
            <a:r>
              <a:rPr sz="2000" b="1" i="0">
                <a:solidFill>
                  <a:srgbClr val="FFFFFF"/>
                </a:solidFill>
              </a:rPr>
              <a:t>Demo 2  —  How to Test</a:t>
            </a:r>
          </a:p>
        </p:txBody>
      </p:sp>
      <p:sp>
        <p:nvSpPr>
          <p:cNvPr id="4" name="Rectangle 3"/>
          <p:cNvSpPr/>
          <p:nvPr/>
        </p:nvSpPr>
        <p:spPr>
          <a:xfrm>
            <a:off x="365760" y="731520"/>
            <a:ext cx="1371600"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371600" cy="502920"/>
          </a:xfrm>
          <a:prstGeom prst="rect">
            <a:avLst/>
          </a:prstGeom>
          <a:noFill/>
        </p:spPr>
        <p:txBody>
          <a:bodyPr wrap="square">
            <a:spAutoFit/>
          </a:bodyPr>
          <a:lstStyle/>
          <a:p>
            <a:pPr algn="ctr"/>
            <a:r>
              <a:rPr sz="1300" b="1" i="0">
                <a:solidFill>
                  <a:srgbClr val="FFFFFF"/>
                </a:solidFill>
              </a:rPr>
              <a:t>Step 1</a:t>
            </a:r>
          </a:p>
        </p:txBody>
      </p:sp>
      <p:sp>
        <p:nvSpPr>
          <p:cNvPr id="6" name="TextBox 5"/>
          <p:cNvSpPr txBox="1"/>
          <p:nvPr/>
        </p:nvSpPr>
        <p:spPr>
          <a:xfrm>
            <a:off x="1920240" y="731520"/>
            <a:ext cx="9875520" cy="457200"/>
          </a:xfrm>
          <a:prstGeom prst="rect">
            <a:avLst/>
          </a:prstGeom>
          <a:noFill/>
        </p:spPr>
        <p:txBody>
          <a:bodyPr wrap="square">
            <a:spAutoFit/>
          </a:bodyPr>
          <a:lstStyle/>
          <a:p>
            <a:pPr algn="l"/>
            <a:r>
              <a:rPr sz="1600" b="1" i="0">
                <a:solidFill>
                  <a:srgbClr val="FFFFFF"/>
                </a:solidFill>
              </a:rPr>
              <a:t>Ensure Employees Are Registered</a:t>
            </a:r>
          </a:p>
        </p:txBody>
      </p:sp>
      <p:sp>
        <p:nvSpPr>
          <p:cNvPr id="7" name="TextBox 6"/>
          <p:cNvSpPr txBox="1"/>
          <p:nvPr/>
        </p:nvSpPr>
        <p:spPr>
          <a:xfrm>
            <a:off x="1920240" y="1188720"/>
            <a:ext cx="9875520" cy="822960"/>
          </a:xfrm>
          <a:prstGeom prst="rect">
            <a:avLst/>
          </a:prstGeom>
          <a:noFill/>
        </p:spPr>
        <p:txBody>
          <a:bodyPr wrap="square">
            <a:spAutoFit/>
          </a:bodyPr>
          <a:lstStyle/>
          <a:p>
            <a:pPr algn="l"/>
            <a:r>
              <a:rPr sz="1300" b="0" i="0">
                <a:solidFill>
                  <a:srgbClr val="CCCCCC"/>
                </a:solidFill>
              </a:rPr>
              <a:t>Go to /demo and confirm your employees appear in the Registered Employees table
If empty — register them with a clear front-facing photo first</a:t>
            </a:r>
          </a:p>
        </p:txBody>
      </p:sp>
      <p:sp>
        <p:nvSpPr>
          <p:cNvPr id="8" name="Rectangle 7"/>
          <p:cNvSpPr/>
          <p:nvPr/>
        </p:nvSpPr>
        <p:spPr>
          <a:xfrm>
            <a:off x="365760" y="2148840"/>
            <a:ext cx="1371600"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148840"/>
            <a:ext cx="1371600" cy="502920"/>
          </a:xfrm>
          <a:prstGeom prst="rect">
            <a:avLst/>
          </a:prstGeom>
          <a:noFill/>
        </p:spPr>
        <p:txBody>
          <a:bodyPr wrap="square">
            <a:spAutoFit/>
          </a:bodyPr>
          <a:lstStyle/>
          <a:p>
            <a:pPr algn="ctr"/>
            <a:r>
              <a:rPr sz="1300" b="1" i="0">
                <a:solidFill>
                  <a:srgbClr val="FFFFFF"/>
                </a:solidFill>
              </a:rPr>
              <a:t>Step 2</a:t>
            </a:r>
          </a:p>
        </p:txBody>
      </p:sp>
      <p:sp>
        <p:nvSpPr>
          <p:cNvPr id="10" name="TextBox 9"/>
          <p:cNvSpPr txBox="1"/>
          <p:nvPr/>
        </p:nvSpPr>
        <p:spPr>
          <a:xfrm>
            <a:off x="1920240" y="2148840"/>
            <a:ext cx="9875520" cy="338554"/>
          </a:xfrm>
          <a:prstGeom prst="rect">
            <a:avLst/>
          </a:prstGeom>
          <a:noFill/>
        </p:spPr>
        <p:txBody>
          <a:bodyPr wrap="square">
            <a:spAutoFit/>
          </a:bodyPr>
          <a:lstStyle/>
          <a:p>
            <a:pPr algn="l"/>
            <a:r>
              <a:rPr sz="1600" b="1" i="0" dirty="0">
                <a:solidFill>
                  <a:srgbClr val="FFFFFF"/>
                </a:solidFill>
              </a:rPr>
              <a:t>Upload Video on</a:t>
            </a:r>
            <a:r>
              <a:rPr lang="en-IN" sz="1600" b="1" i="0" dirty="0">
                <a:solidFill>
                  <a:srgbClr val="FFFFFF"/>
                </a:solidFill>
              </a:rPr>
              <a:t> -</a:t>
            </a:r>
            <a:r>
              <a:rPr sz="1600" b="1" i="0" dirty="0">
                <a:solidFill>
                  <a:srgbClr val="FFFFFF"/>
                </a:solidFill>
              </a:rPr>
              <a:t> /demo/unauthorized</a:t>
            </a:r>
            <a:r>
              <a:rPr lang="en-IN" sz="1600" b="1" i="0" dirty="0">
                <a:solidFill>
                  <a:srgbClr val="FFFFFF"/>
                </a:solidFill>
              </a:rPr>
              <a:t> page</a:t>
            </a:r>
            <a:endParaRPr sz="1600" b="1" i="0" dirty="0">
              <a:solidFill>
                <a:srgbClr val="FFFFFF"/>
              </a:solidFill>
            </a:endParaRPr>
          </a:p>
        </p:txBody>
      </p:sp>
      <p:sp>
        <p:nvSpPr>
          <p:cNvPr id="11" name="TextBox 10"/>
          <p:cNvSpPr txBox="1"/>
          <p:nvPr/>
        </p:nvSpPr>
        <p:spPr>
          <a:xfrm>
            <a:off x="1920240" y="2606040"/>
            <a:ext cx="9875520" cy="822960"/>
          </a:xfrm>
          <a:prstGeom prst="rect">
            <a:avLst/>
          </a:prstGeom>
          <a:noFill/>
        </p:spPr>
        <p:txBody>
          <a:bodyPr wrap="square">
            <a:spAutoFit/>
          </a:bodyPr>
          <a:lstStyle/>
          <a:p>
            <a:pPr algn="l"/>
            <a:r>
              <a:rPr sz="1300" b="0" i="0">
                <a:solidFill>
                  <a:srgbClr val="CCCCCC"/>
                </a:solidFill>
              </a:rPr>
              <a:t>Go to /demo/unauthorized  →  Upload a video that contains both a registered employee AND a stranger
Click Upload &amp; Process</a:t>
            </a:r>
          </a:p>
        </p:txBody>
      </p:sp>
      <p:sp>
        <p:nvSpPr>
          <p:cNvPr id="12" name="Rectangle 11"/>
          <p:cNvSpPr/>
          <p:nvPr/>
        </p:nvSpPr>
        <p:spPr>
          <a:xfrm>
            <a:off x="365760" y="3566160"/>
            <a:ext cx="1371600"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3566160"/>
            <a:ext cx="1371600" cy="502920"/>
          </a:xfrm>
          <a:prstGeom prst="rect">
            <a:avLst/>
          </a:prstGeom>
          <a:noFill/>
        </p:spPr>
        <p:txBody>
          <a:bodyPr wrap="square">
            <a:spAutoFit/>
          </a:bodyPr>
          <a:lstStyle/>
          <a:p>
            <a:pPr algn="ctr"/>
            <a:r>
              <a:rPr sz="1300" b="1" i="0">
                <a:solidFill>
                  <a:srgbClr val="FFFFFF"/>
                </a:solidFill>
              </a:rPr>
              <a:t>Step 3</a:t>
            </a:r>
          </a:p>
        </p:txBody>
      </p:sp>
      <p:sp>
        <p:nvSpPr>
          <p:cNvPr id="14" name="TextBox 13"/>
          <p:cNvSpPr txBox="1"/>
          <p:nvPr/>
        </p:nvSpPr>
        <p:spPr>
          <a:xfrm>
            <a:off x="1920240" y="3566160"/>
            <a:ext cx="9875520" cy="457200"/>
          </a:xfrm>
          <a:prstGeom prst="rect">
            <a:avLst/>
          </a:prstGeom>
          <a:noFill/>
        </p:spPr>
        <p:txBody>
          <a:bodyPr wrap="square">
            <a:spAutoFit/>
          </a:bodyPr>
          <a:lstStyle/>
          <a:p>
            <a:pPr algn="l"/>
            <a:r>
              <a:rPr sz="1600" b="1" i="0">
                <a:solidFill>
                  <a:srgbClr val="FFFFFF"/>
                </a:solidFill>
              </a:rPr>
              <a:t>Watch Live Progress</a:t>
            </a:r>
          </a:p>
        </p:txBody>
      </p:sp>
      <p:sp>
        <p:nvSpPr>
          <p:cNvPr id="15" name="TextBox 14"/>
          <p:cNvSpPr txBox="1"/>
          <p:nvPr/>
        </p:nvSpPr>
        <p:spPr>
          <a:xfrm>
            <a:off x="1920240" y="4023360"/>
            <a:ext cx="9875520" cy="822960"/>
          </a:xfrm>
          <a:prstGeom prst="rect">
            <a:avLst/>
          </a:prstGeom>
          <a:noFill/>
        </p:spPr>
        <p:txBody>
          <a:bodyPr wrap="square">
            <a:spAutoFit/>
          </a:bodyPr>
          <a:lstStyle/>
          <a:p>
            <a:pPr algn="l"/>
            <a:r>
              <a:rPr sz="1300" b="0" i="0">
                <a:solidFill>
                  <a:srgbClr val="CCCCCC"/>
                </a:solidFill>
              </a:rPr>
              <a:t>Progress bar and Processed Frames counter update every 2 seconds — no page refresh needed
Status changes: uploaded  →  processing  →  completed</a:t>
            </a:r>
          </a:p>
        </p:txBody>
      </p:sp>
      <p:sp>
        <p:nvSpPr>
          <p:cNvPr id="16" name="Rectangle 15"/>
          <p:cNvSpPr/>
          <p:nvPr/>
        </p:nvSpPr>
        <p:spPr>
          <a:xfrm>
            <a:off x="365760" y="4983480"/>
            <a:ext cx="1371600"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983480"/>
            <a:ext cx="1371600" cy="502920"/>
          </a:xfrm>
          <a:prstGeom prst="rect">
            <a:avLst/>
          </a:prstGeom>
          <a:noFill/>
        </p:spPr>
        <p:txBody>
          <a:bodyPr wrap="square">
            <a:spAutoFit/>
          </a:bodyPr>
          <a:lstStyle/>
          <a:p>
            <a:pPr algn="ctr"/>
            <a:r>
              <a:rPr sz="1300" b="1" i="0">
                <a:solidFill>
                  <a:srgbClr val="FFFFFF"/>
                </a:solidFill>
              </a:rPr>
              <a:t>Step 4</a:t>
            </a:r>
          </a:p>
        </p:txBody>
      </p:sp>
      <p:sp>
        <p:nvSpPr>
          <p:cNvPr id="18" name="TextBox 17"/>
          <p:cNvSpPr txBox="1"/>
          <p:nvPr/>
        </p:nvSpPr>
        <p:spPr>
          <a:xfrm>
            <a:off x="1920240" y="4983480"/>
            <a:ext cx="9875520" cy="457200"/>
          </a:xfrm>
          <a:prstGeom prst="rect">
            <a:avLst/>
          </a:prstGeom>
          <a:noFill/>
        </p:spPr>
        <p:txBody>
          <a:bodyPr wrap="square">
            <a:spAutoFit/>
          </a:bodyPr>
          <a:lstStyle/>
          <a:p>
            <a:pPr algn="l"/>
            <a:r>
              <a:rPr sz="1600" b="1" i="0">
                <a:solidFill>
                  <a:srgbClr val="FFFFFF"/>
                </a:solidFill>
              </a:rPr>
              <a:t>Review Annotated Output</a:t>
            </a:r>
          </a:p>
        </p:txBody>
      </p:sp>
      <p:sp>
        <p:nvSpPr>
          <p:cNvPr id="19" name="TextBox 18"/>
          <p:cNvSpPr txBox="1"/>
          <p:nvPr/>
        </p:nvSpPr>
        <p:spPr>
          <a:xfrm>
            <a:off x="1920240" y="5440680"/>
            <a:ext cx="9875520" cy="822960"/>
          </a:xfrm>
          <a:prstGeom prst="rect">
            <a:avLst/>
          </a:prstGeom>
          <a:noFill/>
        </p:spPr>
        <p:txBody>
          <a:bodyPr wrap="square">
            <a:spAutoFit/>
          </a:bodyPr>
          <a:lstStyle/>
          <a:p>
            <a:pPr algn="l"/>
            <a:r>
              <a:rPr sz="1300" b="0" i="0">
                <a:solidFill>
                  <a:srgbClr val="CCCCCC"/>
                </a:solidFill>
              </a:rPr>
              <a:t>Click View when status = completed
Green box + name = authorized employee  |  Red box = unauthorized stranger
Unauthorized Entry Events table below lists every flagged person with timestamp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972800" cy="411480"/>
          </a:xfrm>
          <a:prstGeom prst="rect">
            <a:avLst/>
          </a:prstGeom>
          <a:noFill/>
        </p:spPr>
        <p:txBody>
          <a:bodyPr wrap="square">
            <a:spAutoFit/>
          </a:bodyPr>
          <a:lstStyle/>
          <a:p>
            <a:pPr algn="l"/>
            <a:r>
              <a:rPr sz="2000" b="1" i="0">
                <a:solidFill>
                  <a:srgbClr val="FFFFFF"/>
                </a:solidFill>
              </a:rPr>
              <a:t>Demo 3A  —  Idle Time Detection</a:t>
            </a:r>
          </a:p>
        </p:txBody>
      </p:sp>
      <p:sp>
        <p:nvSpPr>
          <p:cNvPr id="4" name="TextBox 3"/>
          <p:cNvSpPr txBox="1"/>
          <p:nvPr/>
        </p:nvSpPr>
        <p:spPr>
          <a:xfrm>
            <a:off x="457200" y="685800"/>
            <a:ext cx="10972800" cy="457200"/>
          </a:xfrm>
          <a:prstGeom prst="rect">
            <a:avLst/>
          </a:prstGeom>
          <a:noFill/>
        </p:spPr>
        <p:txBody>
          <a:bodyPr wrap="square">
            <a:spAutoFit/>
          </a:bodyPr>
          <a:lstStyle/>
          <a:p>
            <a:pPr algn="l"/>
            <a:r>
              <a:rPr sz="2000" b="1" i="0">
                <a:solidFill>
                  <a:srgbClr val="F59E0B"/>
                </a:solidFill>
              </a:rPr>
              <a:t>What it does</a:t>
            </a:r>
          </a:p>
        </p:txBody>
      </p:sp>
      <p:sp>
        <p:nvSpPr>
          <p:cNvPr id="5" name="TextBox 4"/>
          <p:cNvSpPr txBox="1"/>
          <p:nvPr/>
        </p:nvSpPr>
        <p:spPr>
          <a:xfrm>
            <a:off x="457200" y="1097280"/>
            <a:ext cx="11247120" cy="777240"/>
          </a:xfrm>
          <a:prstGeom prst="rect">
            <a:avLst/>
          </a:prstGeom>
          <a:noFill/>
        </p:spPr>
        <p:txBody>
          <a:bodyPr wrap="square">
            <a:spAutoFit/>
          </a:bodyPr>
          <a:lstStyle/>
          <a:p>
            <a:pPr algn="l"/>
            <a:r>
              <a:rPr sz="1500" b="0" i="0">
                <a:solidFill>
                  <a:srgbClr val="CCCCCC"/>
                </a:solidFill>
              </a:rPr>
              <a:t>Tracks each detected person's centroid across video frames. When a person has not moved more than 30 pixels for longer than the idle threshold, their bounding box turns yellow and an idle event (start time, end time, duration) is recorded.</a:t>
            </a:r>
          </a:p>
        </p:txBody>
      </p:sp>
      <p:sp>
        <p:nvSpPr>
          <p:cNvPr id="6" name="Rectangle 5"/>
          <p:cNvSpPr/>
          <p:nvPr/>
        </p:nvSpPr>
        <p:spPr>
          <a:xfrm>
            <a:off x="365760" y="2011680"/>
            <a:ext cx="114300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2240280"/>
            <a:ext cx="3749039" cy="4389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331720"/>
            <a:ext cx="3383280" cy="457200"/>
          </a:xfrm>
          <a:prstGeom prst="rect">
            <a:avLst/>
          </a:prstGeom>
          <a:noFill/>
        </p:spPr>
        <p:txBody>
          <a:bodyPr wrap="square">
            <a:spAutoFit/>
          </a:bodyPr>
          <a:lstStyle/>
          <a:p>
            <a:pPr algn="l"/>
            <a:r>
              <a:rPr sz="1500" b="1" i="0">
                <a:solidFill>
                  <a:srgbClr val="F59E0B"/>
                </a:solidFill>
              </a:rPr>
              <a:t>Movement Tracking</a:t>
            </a:r>
          </a:p>
        </p:txBody>
      </p:sp>
      <p:sp>
        <p:nvSpPr>
          <p:cNvPr id="9" name="TextBox 8"/>
          <p:cNvSpPr txBox="1"/>
          <p:nvPr/>
        </p:nvSpPr>
        <p:spPr>
          <a:xfrm>
            <a:off x="548640" y="2834640"/>
            <a:ext cx="3383280" cy="3657600"/>
          </a:xfrm>
          <a:prstGeom prst="rect">
            <a:avLst/>
          </a:prstGeom>
          <a:noFill/>
        </p:spPr>
        <p:txBody>
          <a:bodyPr wrap="square">
            <a:spAutoFit/>
          </a:bodyPr>
          <a:lstStyle/>
          <a:p>
            <a:pPr>
              <a:spcBef>
                <a:spcPts val="700"/>
              </a:spcBef>
            </a:pPr>
            <a:r>
              <a:rPr sz="1300">
                <a:solidFill>
                  <a:srgbClr val="CCCCCC"/>
                </a:solidFill>
              </a:rPr>
              <a:t>• Centroid (centre-point) tracked per person per frame</a:t>
            </a:r>
          </a:p>
          <a:p>
            <a:pPr>
              <a:spcBef>
                <a:spcPts val="700"/>
              </a:spcBef>
            </a:pPr>
            <a:r>
              <a:rPr sz="1300">
                <a:solidFill>
                  <a:srgbClr val="CCCCCC"/>
                </a:solidFill>
              </a:rPr>
              <a:t>• Movement threshold: 30 pixels</a:t>
            </a:r>
          </a:p>
          <a:p>
            <a:pPr>
              <a:spcBef>
                <a:spcPts val="700"/>
              </a:spcBef>
            </a:pPr>
            <a:r>
              <a:rPr sz="1300">
                <a:solidFill>
                  <a:srgbClr val="CCCCCC"/>
                </a:solidFill>
              </a:rPr>
              <a:t>• Idle clock starts when movement &lt; threshold</a:t>
            </a:r>
          </a:p>
          <a:p>
            <a:pPr>
              <a:spcBef>
                <a:spcPts val="700"/>
              </a:spcBef>
            </a:pPr>
            <a:r>
              <a:rPr sz="1300">
                <a:solidFill>
                  <a:srgbClr val="CCCCCC"/>
                </a:solidFill>
              </a:rPr>
              <a:t>• Idle clock resets on any significant movement</a:t>
            </a:r>
          </a:p>
        </p:txBody>
      </p:sp>
      <p:sp>
        <p:nvSpPr>
          <p:cNvPr id="10" name="Rectangle 9"/>
          <p:cNvSpPr/>
          <p:nvPr/>
        </p:nvSpPr>
        <p:spPr>
          <a:xfrm>
            <a:off x="4343400" y="2240280"/>
            <a:ext cx="3749039" cy="4389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2331720"/>
            <a:ext cx="3383280" cy="457200"/>
          </a:xfrm>
          <a:prstGeom prst="rect">
            <a:avLst/>
          </a:prstGeom>
          <a:noFill/>
        </p:spPr>
        <p:txBody>
          <a:bodyPr wrap="square">
            <a:spAutoFit/>
          </a:bodyPr>
          <a:lstStyle/>
          <a:p>
            <a:pPr algn="l"/>
            <a:r>
              <a:rPr sz="1500" b="1" i="0">
                <a:solidFill>
                  <a:srgbClr val="F59E0B"/>
                </a:solidFill>
              </a:rPr>
              <a:t>Idle Threshold</a:t>
            </a:r>
          </a:p>
        </p:txBody>
      </p:sp>
      <p:sp>
        <p:nvSpPr>
          <p:cNvPr id="12" name="TextBox 11"/>
          <p:cNvSpPr txBox="1"/>
          <p:nvPr/>
        </p:nvSpPr>
        <p:spPr>
          <a:xfrm>
            <a:off x="4526280" y="2834640"/>
            <a:ext cx="3383280" cy="3657600"/>
          </a:xfrm>
          <a:prstGeom prst="rect">
            <a:avLst/>
          </a:prstGeom>
          <a:noFill/>
        </p:spPr>
        <p:txBody>
          <a:bodyPr wrap="square">
            <a:spAutoFit/>
          </a:bodyPr>
          <a:lstStyle/>
          <a:p>
            <a:pPr>
              <a:spcBef>
                <a:spcPts val="700"/>
              </a:spcBef>
            </a:pPr>
            <a:r>
              <a:rPr sz="1300">
                <a:solidFill>
                  <a:srgbClr val="CCCCCC"/>
                </a:solidFill>
              </a:rPr>
              <a:t>• Configurable in config/settings.py</a:t>
            </a:r>
          </a:p>
          <a:p>
            <a:pPr>
              <a:spcBef>
                <a:spcPts val="700"/>
              </a:spcBef>
            </a:pPr>
            <a:r>
              <a:rPr sz="1300">
                <a:solidFill>
                  <a:srgbClr val="CCCCCC"/>
                </a:solidFill>
              </a:rPr>
              <a:t>• Default: 300 seconds (5 minutes)</a:t>
            </a:r>
          </a:p>
          <a:p>
            <a:pPr>
              <a:spcBef>
                <a:spcPts val="700"/>
              </a:spcBef>
            </a:pPr>
            <a:r>
              <a:rPr sz="1300">
                <a:solidFill>
                  <a:srgbClr val="CCCCCC"/>
                </a:solidFill>
              </a:rPr>
              <a:t>• For demo: lower to 10 seconds</a:t>
            </a:r>
          </a:p>
          <a:p>
            <a:pPr>
              <a:spcBef>
                <a:spcPts val="700"/>
              </a:spcBef>
            </a:pPr>
            <a:r>
              <a:rPr sz="1300">
                <a:solidFill>
                  <a:srgbClr val="CCCCCC"/>
                </a:solidFill>
              </a:rPr>
              <a:t>• idle_threshold_seconds = 10</a:t>
            </a:r>
          </a:p>
        </p:txBody>
      </p:sp>
      <p:sp>
        <p:nvSpPr>
          <p:cNvPr id="13" name="Rectangle 12"/>
          <p:cNvSpPr/>
          <p:nvPr/>
        </p:nvSpPr>
        <p:spPr>
          <a:xfrm>
            <a:off x="8321040" y="2240280"/>
            <a:ext cx="3749039" cy="4389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19" y="2331720"/>
            <a:ext cx="3383280" cy="457200"/>
          </a:xfrm>
          <a:prstGeom prst="rect">
            <a:avLst/>
          </a:prstGeom>
          <a:noFill/>
        </p:spPr>
        <p:txBody>
          <a:bodyPr wrap="square">
            <a:spAutoFit/>
          </a:bodyPr>
          <a:lstStyle/>
          <a:p>
            <a:pPr algn="l"/>
            <a:r>
              <a:rPr sz="1500" b="1" i="0">
                <a:solidFill>
                  <a:srgbClr val="F59E0B"/>
                </a:solidFill>
              </a:rPr>
              <a:t>Output</a:t>
            </a:r>
          </a:p>
        </p:txBody>
      </p:sp>
      <p:sp>
        <p:nvSpPr>
          <p:cNvPr id="15" name="TextBox 14"/>
          <p:cNvSpPr txBox="1"/>
          <p:nvPr/>
        </p:nvSpPr>
        <p:spPr>
          <a:xfrm>
            <a:off x="8503919" y="2834640"/>
            <a:ext cx="3383280" cy="3657600"/>
          </a:xfrm>
          <a:prstGeom prst="rect">
            <a:avLst/>
          </a:prstGeom>
          <a:noFill/>
        </p:spPr>
        <p:txBody>
          <a:bodyPr wrap="square">
            <a:spAutoFit/>
          </a:bodyPr>
          <a:lstStyle/>
          <a:p>
            <a:pPr>
              <a:spcBef>
                <a:spcPts val="700"/>
              </a:spcBef>
            </a:pPr>
            <a:r>
              <a:rPr sz="1300">
                <a:solidFill>
                  <a:srgbClr val="CCCCCC"/>
                </a:solidFill>
              </a:rPr>
              <a:t>• Yellow box + 'Idle: &lt;name&gt;' label on video</a:t>
            </a:r>
          </a:p>
          <a:p>
            <a:pPr>
              <a:spcBef>
                <a:spcPts val="700"/>
              </a:spcBef>
            </a:pPr>
            <a:r>
              <a:rPr sz="1300">
                <a:solidFill>
                  <a:srgbClr val="CCCCCC"/>
                </a:solidFill>
              </a:rPr>
              <a:t>• Idle Events table: start / end / duration</a:t>
            </a:r>
          </a:p>
          <a:p>
            <a:pPr>
              <a:spcBef>
                <a:spcPts val="700"/>
              </a:spcBef>
            </a:pPr>
            <a:r>
              <a:rPr sz="1300">
                <a:solidFill>
                  <a:srgbClr val="CCCCCC"/>
                </a:solidFill>
              </a:rPr>
              <a:t>• Employee ID linked if person is recognized</a:t>
            </a:r>
          </a:p>
          <a:p>
            <a:pPr>
              <a:spcBef>
                <a:spcPts val="700"/>
              </a:spcBef>
            </a:pPr>
            <a:r>
              <a:rPr sz="1300">
                <a:solidFill>
                  <a:srgbClr val="CCCCCC"/>
                </a:solidFill>
              </a:rPr>
              <a:t>• All events persisted in SQLite</a:t>
            </a:r>
          </a:p>
        </p:txBody>
      </p:sp>
      <p:sp>
        <p:nvSpPr>
          <p:cNvPr id="16" name="TextBox 15"/>
          <p:cNvSpPr txBox="1"/>
          <p:nvPr/>
        </p:nvSpPr>
        <p:spPr>
          <a:xfrm>
            <a:off x="365760" y="6492240"/>
            <a:ext cx="11430000" cy="320040"/>
          </a:xfrm>
          <a:prstGeom prst="rect">
            <a:avLst/>
          </a:prstGeom>
          <a:noFill/>
        </p:spPr>
        <p:txBody>
          <a:bodyPr wrap="square">
            <a:spAutoFit/>
          </a:bodyPr>
          <a:lstStyle/>
          <a:p>
            <a:pPr algn="ctr"/>
            <a:r>
              <a:rPr sz="1200" b="1" i="0">
                <a:solidFill>
                  <a:srgbClr val="F59E0B"/>
                </a:solidFill>
              </a:rPr>
              <a:t>⚠  IMPORTANT for demo:  Lower idle_threshold_seconds to 10 in config/settings.py and restart server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972800" cy="411480"/>
          </a:xfrm>
          <a:prstGeom prst="rect">
            <a:avLst/>
          </a:prstGeom>
          <a:noFill/>
        </p:spPr>
        <p:txBody>
          <a:bodyPr wrap="square">
            <a:spAutoFit/>
          </a:bodyPr>
          <a:lstStyle/>
          <a:p>
            <a:pPr algn="l"/>
            <a:r>
              <a:rPr sz="2000" b="1" i="0">
                <a:solidFill>
                  <a:srgbClr val="FFFFFF"/>
                </a:solidFill>
              </a:rPr>
              <a:t>Demo 3B  —  Shift Compliance (Working Hours)</a:t>
            </a:r>
          </a:p>
        </p:txBody>
      </p:sp>
      <p:sp>
        <p:nvSpPr>
          <p:cNvPr id="4" name="TextBox 3"/>
          <p:cNvSpPr txBox="1"/>
          <p:nvPr/>
        </p:nvSpPr>
        <p:spPr>
          <a:xfrm>
            <a:off x="457200" y="685800"/>
            <a:ext cx="10972800" cy="457200"/>
          </a:xfrm>
          <a:prstGeom prst="rect">
            <a:avLst/>
          </a:prstGeom>
          <a:noFill/>
        </p:spPr>
        <p:txBody>
          <a:bodyPr wrap="square">
            <a:spAutoFit/>
          </a:bodyPr>
          <a:lstStyle/>
          <a:p>
            <a:pPr algn="l"/>
            <a:r>
              <a:rPr sz="2000" b="1" i="0">
                <a:solidFill>
                  <a:srgbClr val="3B82F6"/>
                </a:solidFill>
              </a:rPr>
              <a:t>What it does</a:t>
            </a:r>
          </a:p>
        </p:txBody>
      </p:sp>
      <p:sp>
        <p:nvSpPr>
          <p:cNvPr id="5" name="TextBox 4"/>
          <p:cNvSpPr txBox="1"/>
          <p:nvPr/>
        </p:nvSpPr>
        <p:spPr>
          <a:xfrm>
            <a:off x="457200" y="1097280"/>
            <a:ext cx="11247120" cy="822960"/>
          </a:xfrm>
          <a:prstGeom prst="rect">
            <a:avLst/>
          </a:prstGeom>
          <a:noFill/>
        </p:spPr>
        <p:txBody>
          <a:bodyPr wrap="square">
            <a:spAutoFit/>
          </a:bodyPr>
          <a:lstStyle/>
          <a:p>
            <a:pPr algn="l"/>
            <a:r>
              <a:rPr sz="1500" b="0" i="0">
                <a:solidFill>
                  <a:srgbClr val="CCCCCC"/>
                </a:solidFill>
              </a:rPr>
              <a:t>Maps video frame timestamps to real wall-clock time using the Video Start DateTime. Compares each employee's first appearance (check-in) and last appearance (check-out) against their configured work schedule, and generates a compliance report.</a:t>
            </a:r>
          </a:p>
        </p:txBody>
      </p:sp>
      <p:sp>
        <p:nvSpPr>
          <p:cNvPr id="6" name="Rectangle 5"/>
          <p:cNvSpPr/>
          <p:nvPr/>
        </p:nvSpPr>
        <p:spPr>
          <a:xfrm>
            <a:off x="365760" y="2057400"/>
            <a:ext cx="2286000" cy="59436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2057400"/>
            <a:ext cx="2286000" cy="594360"/>
          </a:xfrm>
          <a:prstGeom prst="rect">
            <a:avLst/>
          </a:prstGeom>
          <a:noFill/>
        </p:spPr>
        <p:txBody>
          <a:bodyPr wrap="square">
            <a:spAutoFit/>
          </a:bodyPr>
          <a:lstStyle/>
          <a:p>
            <a:pPr algn="ctr"/>
            <a:r>
              <a:rPr sz="1500" b="1" i="0">
                <a:solidFill>
                  <a:srgbClr val="111111"/>
                </a:solidFill>
              </a:rPr>
              <a:t>COMPLIANT</a:t>
            </a:r>
          </a:p>
        </p:txBody>
      </p:sp>
      <p:sp>
        <p:nvSpPr>
          <p:cNvPr id="8" name="TextBox 7"/>
          <p:cNvSpPr txBox="1"/>
          <p:nvPr/>
        </p:nvSpPr>
        <p:spPr>
          <a:xfrm>
            <a:off x="2880360" y="2148840"/>
            <a:ext cx="9144000" cy="502920"/>
          </a:xfrm>
          <a:prstGeom prst="rect">
            <a:avLst/>
          </a:prstGeom>
          <a:noFill/>
        </p:spPr>
        <p:txBody>
          <a:bodyPr wrap="square">
            <a:spAutoFit/>
          </a:bodyPr>
          <a:lstStyle/>
          <a:p>
            <a:pPr algn="l"/>
            <a:r>
              <a:rPr sz="1400" b="0" i="0">
                <a:solidFill>
                  <a:srgbClr val="CCCCCC"/>
                </a:solidFill>
              </a:rPr>
              <a:t>Employee arrived and left within the grace period of their schedule</a:t>
            </a:r>
          </a:p>
        </p:txBody>
      </p:sp>
      <p:sp>
        <p:nvSpPr>
          <p:cNvPr id="9" name="Rectangle 8"/>
          <p:cNvSpPr/>
          <p:nvPr/>
        </p:nvSpPr>
        <p:spPr>
          <a:xfrm>
            <a:off x="365760" y="3108960"/>
            <a:ext cx="2286000" cy="5943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3108960"/>
            <a:ext cx="2286000" cy="594360"/>
          </a:xfrm>
          <a:prstGeom prst="rect">
            <a:avLst/>
          </a:prstGeom>
          <a:noFill/>
        </p:spPr>
        <p:txBody>
          <a:bodyPr wrap="square">
            <a:spAutoFit/>
          </a:bodyPr>
          <a:lstStyle/>
          <a:p>
            <a:pPr algn="ctr"/>
            <a:r>
              <a:rPr sz="1500" b="1" i="0">
                <a:solidFill>
                  <a:srgbClr val="111111"/>
                </a:solidFill>
              </a:rPr>
              <a:t>LATE</a:t>
            </a:r>
          </a:p>
        </p:txBody>
      </p:sp>
      <p:sp>
        <p:nvSpPr>
          <p:cNvPr id="11" name="TextBox 10"/>
          <p:cNvSpPr txBox="1"/>
          <p:nvPr/>
        </p:nvSpPr>
        <p:spPr>
          <a:xfrm>
            <a:off x="2880360" y="3200400"/>
            <a:ext cx="9144000" cy="502920"/>
          </a:xfrm>
          <a:prstGeom prst="rect">
            <a:avLst/>
          </a:prstGeom>
          <a:noFill/>
        </p:spPr>
        <p:txBody>
          <a:bodyPr wrap="square">
            <a:spAutoFit/>
          </a:bodyPr>
          <a:lstStyle/>
          <a:p>
            <a:pPr algn="l"/>
            <a:r>
              <a:rPr sz="1400" b="0" i="0">
                <a:solidFill>
                  <a:srgbClr val="CCCCCC"/>
                </a:solidFill>
              </a:rPr>
              <a:t>Employee's first appearance is after expected start + grace minutes</a:t>
            </a:r>
          </a:p>
        </p:txBody>
      </p:sp>
      <p:sp>
        <p:nvSpPr>
          <p:cNvPr id="12" name="Rectangle 11"/>
          <p:cNvSpPr/>
          <p:nvPr/>
        </p:nvSpPr>
        <p:spPr>
          <a:xfrm>
            <a:off x="365760" y="4160520"/>
            <a:ext cx="2286000" cy="5943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4160520"/>
            <a:ext cx="2286000" cy="594360"/>
          </a:xfrm>
          <a:prstGeom prst="rect">
            <a:avLst/>
          </a:prstGeom>
          <a:noFill/>
        </p:spPr>
        <p:txBody>
          <a:bodyPr wrap="square">
            <a:spAutoFit/>
          </a:bodyPr>
          <a:lstStyle/>
          <a:p>
            <a:pPr algn="ctr"/>
            <a:r>
              <a:rPr sz="1500" b="1" i="0">
                <a:solidFill>
                  <a:srgbClr val="111111"/>
                </a:solidFill>
              </a:rPr>
              <a:t>EARLY_EXIT</a:t>
            </a:r>
          </a:p>
        </p:txBody>
      </p:sp>
      <p:sp>
        <p:nvSpPr>
          <p:cNvPr id="14" name="TextBox 13"/>
          <p:cNvSpPr txBox="1"/>
          <p:nvPr/>
        </p:nvSpPr>
        <p:spPr>
          <a:xfrm>
            <a:off x="2880360" y="4251959"/>
            <a:ext cx="9144000" cy="502920"/>
          </a:xfrm>
          <a:prstGeom prst="rect">
            <a:avLst/>
          </a:prstGeom>
          <a:noFill/>
        </p:spPr>
        <p:txBody>
          <a:bodyPr wrap="square">
            <a:spAutoFit/>
          </a:bodyPr>
          <a:lstStyle/>
          <a:p>
            <a:pPr algn="l"/>
            <a:r>
              <a:rPr sz="1400" b="0" i="0">
                <a:solidFill>
                  <a:srgbClr val="CCCCCC"/>
                </a:solidFill>
              </a:rPr>
              <a:t>Employee's last appearance is before expected end − grace minutes</a:t>
            </a:r>
          </a:p>
        </p:txBody>
      </p:sp>
      <p:sp>
        <p:nvSpPr>
          <p:cNvPr id="15" name="Rectangle 14"/>
          <p:cNvSpPr/>
          <p:nvPr/>
        </p:nvSpPr>
        <p:spPr>
          <a:xfrm>
            <a:off x="365760" y="5212079"/>
            <a:ext cx="2286000" cy="5943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5212079"/>
            <a:ext cx="2286000" cy="594360"/>
          </a:xfrm>
          <a:prstGeom prst="rect">
            <a:avLst/>
          </a:prstGeom>
          <a:noFill/>
        </p:spPr>
        <p:txBody>
          <a:bodyPr wrap="square">
            <a:spAutoFit/>
          </a:bodyPr>
          <a:lstStyle/>
          <a:p>
            <a:pPr algn="ctr"/>
            <a:r>
              <a:rPr sz="1500" b="1" i="0">
                <a:solidFill>
                  <a:srgbClr val="111111"/>
                </a:solidFill>
              </a:rPr>
              <a:t>ABSENT</a:t>
            </a:r>
          </a:p>
        </p:txBody>
      </p:sp>
      <p:sp>
        <p:nvSpPr>
          <p:cNvPr id="17" name="TextBox 16"/>
          <p:cNvSpPr txBox="1"/>
          <p:nvPr/>
        </p:nvSpPr>
        <p:spPr>
          <a:xfrm>
            <a:off x="2880360" y="5303519"/>
            <a:ext cx="9144000" cy="502920"/>
          </a:xfrm>
          <a:prstGeom prst="rect">
            <a:avLst/>
          </a:prstGeom>
          <a:noFill/>
        </p:spPr>
        <p:txBody>
          <a:bodyPr wrap="square">
            <a:spAutoFit/>
          </a:bodyPr>
          <a:lstStyle/>
          <a:p>
            <a:pPr algn="l"/>
            <a:r>
              <a:rPr sz="1400" b="0" i="0">
                <a:solidFill>
                  <a:srgbClr val="CCCCCC"/>
                </a:solidFill>
              </a:rPr>
              <a:t>Employee was not detected at all in the video</a:t>
            </a:r>
          </a:p>
        </p:txBody>
      </p:sp>
      <p:sp>
        <p:nvSpPr>
          <p:cNvPr id="18" name="Rectangle 17"/>
          <p:cNvSpPr/>
          <p:nvPr/>
        </p:nvSpPr>
        <p:spPr>
          <a:xfrm>
            <a:off x="365760" y="6263640"/>
            <a:ext cx="54864"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6236208"/>
            <a:ext cx="10972800" cy="320040"/>
          </a:xfrm>
          <a:prstGeom prst="rect">
            <a:avLst/>
          </a:prstGeom>
          <a:noFill/>
        </p:spPr>
        <p:txBody>
          <a:bodyPr wrap="square">
            <a:spAutoFit/>
          </a:bodyPr>
          <a:lstStyle/>
          <a:p>
            <a:pPr algn="l"/>
            <a:r>
              <a:rPr sz="1300" b="1" i="0">
                <a:solidFill>
                  <a:srgbClr val="3B82F6"/>
                </a:solidFill>
              </a:rPr>
              <a:t>Compliance Table Columns:</a:t>
            </a:r>
          </a:p>
        </p:txBody>
      </p:sp>
      <p:sp>
        <p:nvSpPr>
          <p:cNvPr id="20" name="TextBox 19"/>
          <p:cNvSpPr txBox="1"/>
          <p:nvPr/>
        </p:nvSpPr>
        <p:spPr>
          <a:xfrm>
            <a:off x="548640" y="6537960"/>
            <a:ext cx="11430000" cy="320040"/>
          </a:xfrm>
          <a:prstGeom prst="rect">
            <a:avLst/>
          </a:prstGeom>
          <a:noFill/>
        </p:spPr>
        <p:txBody>
          <a:bodyPr wrap="square">
            <a:spAutoFit/>
          </a:bodyPr>
          <a:lstStyle/>
          <a:p>
            <a:pPr algn="l"/>
            <a:r>
              <a:rPr sz="1200" b="0" i="1">
                <a:solidFill>
                  <a:srgbClr val="CCCCCC"/>
                </a:solidFill>
              </a:rPr>
              <a:t>Employee  |  Check In  |  Check Out  |  Total Minutes  |  Status  |  Deviation (minutes)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972800" cy="411480"/>
          </a:xfrm>
          <a:prstGeom prst="rect">
            <a:avLst/>
          </a:prstGeom>
          <a:noFill/>
        </p:spPr>
        <p:txBody>
          <a:bodyPr wrap="square">
            <a:spAutoFit/>
          </a:bodyPr>
          <a:lstStyle/>
          <a:p>
            <a:pPr algn="l"/>
            <a:r>
              <a:rPr sz="2000" b="1" i="0">
                <a:solidFill>
                  <a:srgbClr val="FFFFFF"/>
                </a:solidFill>
              </a:rPr>
              <a:t>Demo 3  —  How to Test (Idle + Shift Compliance)</a:t>
            </a:r>
          </a:p>
        </p:txBody>
      </p:sp>
      <p:sp>
        <p:nvSpPr>
          <p:cNvPr id="4" name="Rectangle 3"/>
          <p:cNvSpPr/>
          <p:nvPr/>
        </p:nvSpPr>
        <p:spPr>
          <a:xfrm>
            <a:off x="365760" y="731520"/>
            <a:ext cx="137160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371600" cy="502920"/>
          </a:xfrm>
          <a:prstGeom prst="rect">
            <a:avLst/>
          </a:prstGeom>
          <a:noFill/>
        </p:spPr>
        <p:txBody>
          <a:bodyPr wrap="square">
            <a:spAutoFit/>
          </a:bodyPr>
          <a:lstStyle/>
          <a:p>
            <a:pPr algn="ctr"/>
            <a:r>
              <a:rPr sz="1300" b="1" i="0">
                <a:solidFill>
                  <a:srgbClr val="111111"/>
                </a:solidFill>
              </a:rPr>
              <a:t>Prep</a:t>
            </a:r>
          </a:p>
        </p:txBody>
      </p:sp>
      <p:sp>
        <p:nvSpPr>
          <p:cNvPr id="6" name="TextBox 5"/>
          <p:cNvSpPr txBox="1"/>
          <p:nvPr/>
        </p:nvSpPr>
        <p:spPr>
          <a:xfrm>
            <a:off x="1920240" y="731520"/>
            <a:ext cx="9875520" cy="457200"/>
          </a:xfrm>
          <a:prstGeom prst="rect">
            <a:avLst/>
          </a:prstGeom>
          <a:noFill/>
        </p:spPr>
        <p:txBody>
          <a:bodyPr wrap="square">
            <a:spAutoFit/>
          </a:bodyPr>
          <a:lstStyle/>
          <a:p>
            <a:pPr algn="l"/>
            <a:r>
              <a:rPr sz="1600" b="1" i="0">
                <a:solidFill>
                  <a:srgbClr val="FFFFFF"/>
                </a:solidFill>
              </a:rPr>
              <a:t>Lower Idle Threshold</a:t>
            </a:r>
          </a:p>
        </p:txBody>
      </p:sp>
      <p:sp>
        <p:nvSpPr>
          <p:cNvPr id="7" name="TextBox 6"/>
          <p:cNvSpPr txBox="1"/>
          <p:nvPr/>
        </p:nvSpPr>
        <p:spPr>
          <a:xfrm>
            <a:off x="1920240" y="1188720"/>
            <a:ext cx="9875520" cy="822960"/>
          </a:xfrm>
          <a:prstGeom prst="rect">
            <a:avLst/>
          </a:prstGeom>
          <a:noFill/>
        </p:spPr>
        <p:txBody>
          <a:bodyPr wrap="square">
            <a:spAutoFit/>
          </a:bodyPr>
          <a:lstStyle/>
          <a:p>
            <a:pPr algn="l"/>
            <a:r>
              <a:rPr sz="1300" b="0" i="0">
                <a:solidFill>
                  <a:srgbClr val="CCCCCC"/>
                </a:solidFill>
              </a:rPr>
              <a:t>Edit config/settings.py  →  set  idle_threshold_seconds = 10
Restart server  (uvicorn main:app --reload)</a:t>
            </a:r>
          </a:p>
        </p:txBody>
      </p:sp>
      <p:sp>
        <p:nvSpPr>
          <p:cNvPr id="8" name="Rectangle 7"/>
          <p:cNvSpPr/>
          <p:nvPr/>
        </p:nvSpPr>
        <p:spPr>
          <a:xfrm>
            <a:off x="365760" y="2148840"/>
            <a:ext cx="137160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148840"/>
            <a:ext cx="1371600" cy="502920"/>
          </a:xfrm>
          <a:prstGeom prst="rect">
            <a:avLst/>
          </a:prstGeom>
          <a:noFill/>
        </p:spPr>
        <p:txBody>
          <a:bodyPr wrap="square">
            <a:spAutoFit/>
          </a:bodyPr>
          <a:lstStyle/>
          <a:p>
            <a:pPr algn="ctr"/>
            <a:r>
              <a:rPr sz="1300" b="1" i="0">
                <a:solidFill>
                  <a:srgbClr val="111111"/>
                </a:solidFill>
              </a:rPr>
              <a:t>Step 1</a:t>
            </a:r>
          </a:p>
        </p:txBody>
      </p:sp>
      <p:sp>
        <p:nvSpPr>
          <p:cNvPr id="10" name="TextBox 9"/>
          <p:cNvSpPr txBox="1"/>
          <p:nvPr/>
        </p:nvSpPr>
        <p:spPr>
          <a:xfrm>
            <a:off x="1920240" y="2148840"/>
            <a:ext cx="9875520" cy="457200"/>
          </a:xfrm>
          <a:prstGeom prst="rect">
            <a:avLst/>
          </a:prstGeom>
          <a:noFill/>
        </p:spPr>
        <p:txBody>
          <a:bodyPr wrap="square">
            <a:spAutoFit/>
          </a:bodyPr>
          <a:lstStyle/>
          <a:p>
            <a:pPr algn="l"/>
            <a:r>
              <a:rPr sz="1600" b="1" i="0">
                <a:solidFill>
                  <a:srgbClr val="FFFFFF"/>
                </a:solidFill>
              </a:rPr>
              <a:t>Set Work Schedule</a:t>
            </a:r>
          </a:p>
        </p:txBody>
      </p:sp>
      <p:sp>
        <p:nvSpPr>
          <p:cNvPr id="11" name="TextBox 10"/>
          <p:cNvSpPr txBox="1"/>
          <p:nvPr/>
        </p:nvSpPr>
        <p:spPr>
          <a:xfrm>
            <a:off x="1920240" y="2606040"/>
            <a:ext cx="9875520" cy="822960"/>
          </a:xfrm>
          <a:prstGeom prst="rect">
            <a:avLst/>
          </a:prstGeom>
          <a:noFill/>
        </p:spPr>
        <p:txBody>
          <a:bodyPr wrap="square">
            <a:spAutoFit/>
          </a:bodyPr>
          <a:lstStyle/>
          <a:p>
            <a:pPr algn="l"/>
            <a:r>
              <a:rPr sz="1300" b="0" i="0">
                <a:solidFill>
                  <a:srgbClr val="CCCCCC"/>
                </a:solidFill>
              </a:rPr>
              <a:t>Go to /demo/idle  →  Work Schedule section
Select employee, enter Expected Start (e.g. 09:00), Expected End (18:00), Grace 10 min  →  Save Schedule</a:t>
            </a:r>
          </a:p>
        </p:txBody>
      </p:sp>
      <p:sp>
        <p:nvSpPr>
          <p:cNvPr id="12" name="Rectangle 11"/>
          <p:cNvSpPr/>
          <p:nvPr/>
        </p:nvSpPr>
        <p:spPr>
          <a:xfrm>
            <a:off x="365760" y="3566160"/>
            <a:ext cx="137160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3566160"/>
            <a:ext cx="1371600" cy="502920"/>
          </a:xfrm>
          <a:prstGeom prst="rect">
            <a:avLst/>
          </a:prstGeom>
          <a:noFill/>
        </p:spPr>
        <p:txBody>
          <a:bodyPr wrap="square">
            <a:spAutoFit/>
          </a:bodyPr>
          <a:lstStyle/>
          <a:p>
            <a:pPr algn="ctr"/>
            <a:r>
              <a:rPr sz="1300" b="1" i="0">
                <a:solidFill>
                  <a:srgbClr val="111111"/>
                </a:solidFill>
              </a:rPr>
              <a:t>Step 2</a:t>
            </a:r>
          </a:p>
        </p:txBody>
      </p:sp>
      <p:sp>
        <p:nvSpPr>
          <p:cNvPr id="14" name="TextBox 13"/>
          <p:cNvSpPr txBox="1"/>
          <p:nvPr/>
        </p:nvSpPr>
        <p:spPr>
          <a:xfrm>
            <a:off x="1920240" y="3566160"/>
            <a:ext cx="9875520" cy="457200"/>
          </a:xfrm>
          <a:prstGeom prst="rect">
            <a:avLst/>
          </a:prstGeom>
          <a:noFill/>
        </p:spPr>
        <p:txBody>
          <a:bodyPr wrap="square">
            <a:spAutoFit/>
          </a:bodyPr>
          <a:lstStyle/>
          <a:p>
            <a:pPr algn="l"/>
            <a:r>
              <a:rPr sz="1600" b="1" i="0">
                <a:solidFill>
                  <a:srgbClr val="FFFFFF"/>
                </a:solidFill>
              </a:rPr>
              <a:t>Upload Video with Start Time</a:t>
            </a:r>
          </a:p>
        </p:txBody>
      </p:sp>
      <p:sp>
        <p:nvSpPr>
          <p:cNvPr id="15" name="TextBox 14"/>
          <p:cNvSpPr txBox="1"/>
          <p:nvPr/>
        </p:nvSpPr>
        <p:spPr>
          <a:xfrm>
            <a:off x="1920240" y="4023360"/>
            <a:ext cx="9875520" cy="822960"/>
          </a:xfrm>
          <a:prstGeom prst="rect">
            <a:avLst/>
          </a:prstGeom>
          <a:noFill/>
        </p:spPr>
        <p:txBody>
          <a:bodyPr wrap="square">
            <a:spAutoFit/>
          </a:bodyPr>
          <a:lstStyle/>
          <a:p>
            <a:pPr algn="l"/>
            <a:r>
              <a:rPr sz="1300" b="0" i="0">
                <a:solidFill>
                  <a:srgbClr val="CCCCCC"/>
                </a:solidFill>
              </a:rPr>
              <a:t>In Video Start DateTime enter the simulated recording start time
e.g. 2026-03-24 09:30:00  (30 min late — expect 'late' status)
Upload a video where the employee is visible and stands still for &gt;10 s</a:t>
            </a:r>
          </a:p>
        </p:txBody>
      </p:sp>
      <p:sp>
        <p:nvSpPr>
          <p:cNvPr id="16" name="Rectangle 15"/>
          <p:cNvSpPr/>
          <p:nvPr/>
        </p:nvSpPr>
        <p:spPr>
          <a:xfrm>
            <a:off x="365760" y="4983480"/>
            <a:ext cx="137160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983480"/>
            <a:ext cx="1371600" cy="502920"/>
          </a:xfrm>
          <a:prstGeom prst="rect">
            <a:avLst/>
          </a:prstGeom>
          <a:noFill/>
        </p:spPr>
        <p:txBody>
          <a:bodyPr wrap="square">
            <a:spAutoFit/>
          </a:bodyPr>
          <a:lstStyle/>
          <a:p>
            <a:pPr algn="ctr"/>
            <a:r>
              <a:rPr sz="1300" b="1" i="0">
                <a:solidFill>
                  <a:srgbClr val="111111"/>
                </a:solidFill>
              </a:rPr>
              <a:t>Step 3</a:t>
            </a:r>
          </a:p>
        </p:txBody>
      </p:sp>
      <p:sp>
        <p:nvSpPr>
          <p:cNvPr id="18" name="TextBox 17"/>
          <p:cNvSpPr txBox="1"/>
          <p:nvPr/>
        </p:nvSpPr>
        <p:spPr>
          <a:xfrm>
            <a:off x="1920240" y="4983480"/>
            <a:ext cx="9875520" cy="457200"/>
          </a:xfrm>
          <a:prstGeom prst="rect">
            <a:avLst/>
          </a:prstGeom>
          <a:noFill/>
        </p:spPr>
        <p:txBody>
          <a:bodyPr wrap="square">
            <a:spAutoFit/>
          </a:bodyPr>
          <a:lstStyle/>
          <a:p>
            <a:pPr algn="l"/>
            <a:r>
              <a:rPr sz="1600" b="1" i="0">
                <a:solidFill>
                  <a:srgbClr val="FFFFFF"/>
                </a:solidFill>
              </a:rPr>
              <a:t>Check Results</a:t>
            </a:r>
          </a:p>
        </p:txBody>
      </p:sp>
      <p:sp>
        <p:nvSpPr>
          <p:cNvPr id="19" name="TextBox 18"/>
          <p:cNvSpPr txBox="1"/>
          <p:nvPr/>
        </p:nvSpPr>
        <p:spPr>
          <a:xfrm>
            <a:off x="1920240" y="5440680"/>
            <a:ext cx="9875520" cy="822960"/>
          </a:xfrm>
          <a:prstGeom prst="rect">
            <a:avLst/>
          </a:prstGeom>
          <a:noFill/>
        </p:spPr>
        <p:txBody>
          <a:bodyPr wrap="square">
            <a:spAutoFit/>
          </a:bodyPr>
          <a:lstStyle/>
          <a:p>
            <a:pPr algn="l"/>
            <a:r>
              <a:rPr sz="1300" b="0" i="0">
                <a:solidFill>
                  <a:srgbClr val="CCCCCC"/>
                </a:solidFill>
              </a:rPr>
              <a:t>Processed Videos table updates live (Job, Processed Frames)
Click View → Yellow boxes on still persons, Green on moving employees
Scroll down → Idle Events table + Shift Compliance Summary (late / compliant / etc.)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54864"/>
            <a:ext cx="10972800" cy="411480"/>
          </a:xfrm>
          <a:prstGeom prst="rect">
            <a:avLst/>
          </a:prstGeom>
          <a:noFill/>
        </p:spPr>
        <p:txBody>
          <a:bodyPr wrap="square">
            <a:spAutoFit/>
          </a:bodyPr>
          <a:lstStyle/>
          <a:p>
            <a:pPr algn="l"/>
            <a:r>
              <a:rPr sz="2000" b="1" i="0">
                <a:solidFill>
                  <a:srgbClr val="FFFFFF"/>
                </a:solidFill>
              </a:rPr>
              <a:t>System Architecture</a:t>
            </a:r>
          </a:p>
        </p:txBody>
      </p:sp>
      <p:sp>
        <p:nvSpPr>
          <p:cNvPr id="4" name="Rectangle 3"/>
          <p:cNvSpPr/>
          <p:nvPr/>
        </p:nvSpPr>
        <p:spPr>
          <a:xfrm>
            <a:off x="365760" y="685800"/>
            <a:ext cx="11430000"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85800"/>
            <a:ext cx="164592" cy="123444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731520"/>
            <a:ext cx="10972800" cy="411480"/>
          </a:xfrm>
          <a:prstGeom prst="rect">
            <a:avLst/>
          </a:prstGeom>
          <a:noFill/>
        </p:spPr>
        <p:txBody>
          <a:bodyPr wrap="square">
            <a:spAutoFit/>
          </a:bodyPr>
          <a:lstStyle/>
          <a:p>
            <a:pPr algn="l"/>
            <a:r>
              <a:rPr sz="1500" b="1" i="0">
                <a:solidFill>
                  <a:srgbClr val="19C37D"/>
                </a:solidFill>
              </a:rPr>
              <a:t>Frontend (Jinja2 Templates)</a:t>
            </a:r>
          </a:p>
        </p:txBody>
      </p:sp>
      <p:sp>
        <p:nvSpPr>
          <p:cNvPr id="7" name="TextBox 6"/>
          <p:cNvSpPr txBox="1"/>
          <p:nvPr/>
        </p:nvSpPr>
        <p:spPr>
          <a:xfrm>
            <a:off x="685800" y="1161288"/>
            <a:ext cx="10972800" cy="307777"/>
          </a:xfrm>
          <a:prstGeom prst="rect">
            <a:avLst/>
          </a:prstGeom>
          <a:noFill/>
        </p:spPr>
        <p:txBody>
          <a:bodyPr wrap="square">
            <a:spAutoFit/>
          </a:bodyPr>
          <a:lstStyle/>
          <a:p>
            <a:pPr algn="l"/>
            <a:r>
              <a:rPr sz="1400" b="0" i="0" dirty="0">
                <a:solidFill>
                  <a:srgbClr val="CCCCCC"/>
                </a:solidFill>
              </a:rPr>
              <a:t>/demo   /demo/unauthorized   /demo/idle   — dark-themed dashboard, live polling (2 s interval)</a:t>
            </a:r>
          </a:p>
        </p:txBody>
      </p:sp>
      <p:sp>
        <p:nvSpPr>
          <p:cNvPr id="8" name="Rectangle 7"/>
          <p:cNvSpPr/>
          <p:nvPr/>
        </p:nvSpPr>
        <p:spPr>
          <a:xfrm>
            <a:off x="365760" y="2148840"/>
            <a:ext cx="11430000"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2148840"/>
            <a:ext cx="164592" cy="1234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194560"/>
            <a:ext cx="10972800" cy="411480"/>
          </a:xfrm>
          <a:prstGeom prst="rect">
            <a:avLst/>
          </a:prstGeom>
          <a:noFill/>
        </p:spPr>
        <p:txBody>
          <a:bodyPr wrap="square">
            <a:spAutoFit/>
          </a:bodyPr>
          <a:lstStyle/>
          <a:p>
            <a:pPr algn="l"/>
            <a:r>
              <a:rPr sz="1500" b="1" i="0">
                <a:solidFill>
                  <a:srgbClr val="3B82F6"/>
                </a:solidFill>
              </a:rPr>
              <a:t>API Layer (FastAPI)</a:t>
            </a:r>
          </a:p>
        </p:txBody>
      </p:sp>
      <p:sp>
        <p:nvSpPr>
          <p:cNvPr id="11" name="TextBox 10"/>
          <p:cNvSpPr txBox="1"/>
          <p:nvPr/>
        </p:nvSpPr>
        <p:spPr>
          <a:xfrm>
            <a:off x="685800" y="2624328"/>
            <a:ext cx="10972800" cy="307777"/>
          </a:xfrm>
          <a:prstGeom prst="rect">
            <a:avLst/>
          </a:prstGeom>
          <a:noFill/>
        </p:spPr>
        <p:txBody>
          <a:bodyPr wrap="square">
            <a:spAutoFit/>
          </a:bodyPr>
          <a:lstStyle/>
          <a:p>
            <a:pPr algn="l"/>
            <a:r>
              <a:rPr sz="1400" b="0" i="0" dirty="0">
                <a:solidFill>
                  <a:srgbClr val="CCCCCC"/>
                </a:solidFill>
              </a:rPr>
              <a:t>REST endpoints for employee CRUD, video upload, status polling, video streaming</a:t>
            </a:r>
          </a:p>
        </p:txBody>
      </p:sp>
      <p:sp>
        <p:nvSpPr>
          <p:cNvPr id="12" name="Rectangle 11"/>
          <p:cNvSpPr/>
          <p:nvPr/>
        </p:nvSpPr>
        <p:spPr>
          <a:xfrm>
            <a:off x="365760" y="3611880"/>
            <a:ext cx="11430000"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3611880"/>
            <a:ext cx="164592" cy="1234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657600"/>
            <a:ext cx="10972800" cy="411480"/>
          </a:xfrm>
          <a:prstGeom prst="rect">
            <a:avLst/>
          </a:prstGeom>
          <a:noFill/>
        </p:spPr>
        <p:txBody>
          <a:bodyPr wrap="square">
            <a:spAutoFit/>
          </a:bodyPr>
          <a:lstStyle/>
          <a:p>
            <a:pPr algn="l"/>
            <a:r>
              <a:rPr sz="1500" b="1" i="0" dirty="0">
                <a:solidFill>
                  <a:srgbClr val="F59E0B"/>
                </a:solidFill>
              </a:rPr>
              <a:t>Processing Services</a:t>
            </a:r>
          </a:p>
        </p:txBody>
      </p:sp>
      <p:sp>
        <p:nvSpPr>
          <p:cNvPr id="15" name="TextBox 14"/>
          <p:cNvSpPr txBox="1"/>
          <p:nvPr/>
        </p:nvSpPr>
        <p:spPr>
          <a:xfrm>
            <a:off x="685800" y="4087368"/>
            <a:ext cx="10972800" cy="523220"/>
          </a:xfrm>
          <a:prstGeom prst="rect">
            <a:avLst/>
          </a:prstGeom>
          <a:noFill/>
        </p:spPr>
        <p:txBody>
          <a:bodyPr wrap="square">
            <a:spAutoFit/>
          </a:bodyPr>
          <a:lstStyle/>
          <a:p>
            <a:pPr algn="l"/>
            <a:r>
              <a:rPr sz="1400" b="0" i="0" dirty="0" err="1">
                <a:solidFill>
                  <a:srgbClr val="CCCCCC"/>
                </a:solidFill>
              </a:rPr>
              <a:t>UnauthorizedDemoProcessor</a:t>
            </a:r>
            <a:r>
              <a:rPr sz="1400" b="0" i="0" dirty="0">
                <a:solidFill>
                  <a:srgbClr val="CCCCCC"/>
                </a:solidFill>
              </a:rPr>
              <a:t>  |  </a:t>
            </a:r>
            <a:r>
              <a:rPr sz="1400" b="0" i="0" dirty="0" err="1">
                <a:solidFill>
                  <a:srgbClr val="CCCCCC"/>
                </a:solidFill>
              </a:rPr>
              <a:t>IdleDemoProcessor</a:t>
            </a:r>
            <a:r>
              <a:rPr sz="1400" b="0" i="0" dirty="0">
                <a:solidFill>
                  <a:srgbClr val="CCCCCC"/>
                </a:solidFill>
              </a:rPr>
              <a:t>  |  </a:t>
            </a:r>
            <a:r>
              <a:rPr sz="1400" b="0" i="0" dirty="0" err="1">
                <a:solidFill>
                  <a:srgbClr val="CCCCCC"/>
                </a:solidFill>
              </a:rPr>
              <a:t>EmployeeIdentifier</a:t>
            </a:r>
            <a:r>
              <a:rPr sz="1400" b="0" i="0" dirty="0">
                <a:solidFill>
                  <a:srgbClr val="CCCCCC"/>
                </a:solidFill>
              </a:rPr>
              <a:t> (</a:t>
            </a:r>
            <a:r>
              <a:rPr sz="1400" b="0" i="0" dirty="0" err="1">
                <a:solidFill>
                  <a:srgbClr val="CCCCCC"/>
                </a:solidFill>
              </a:rPr>
              <a:t>DeepFace</a:t>
            </a:r>
            <a:r>
              <a:rPr sz="1400" b="0" i="0" dirty="0">
                <a:solidFill>
                  <a:srgbClr val="CCCCCC"/>
                </a:solidFill>
              </a:rPr>
              <a:t>/</a:t>
            </a:r>
            <a:r>
              <a:rPr sz="1400" b="0" i="0" dirty="0" err="1">
                <a:solidFill>
                  <a:srgbClr val="CCCCCC"/>
                </a:solidFill>
              </a:rPr>
              <a:t>Facenet</a:t>
            </a:r>
            <a:r>
              <a:rPr sz="1400" b="0" i="0" dirty="0">
                <a:solidFill>
                  <a:srgbClr val="CCCCCC"/>
                </a:solidFill>
              </a:rPr>
              <a:t>)
</a:t>
            </a:r>
            <a:r>
              <a:rPr sz="1400" b="0" i="0" dirty="0" err="1">
                <a:solidFill>
                  <a:srgbClr val="CCCCCC"/>
                </a:solidFill>
              </a:rPr>
              <a:t>ActivityAnalyzer</a:t>
            </a:r>
            <a:r>
              <a:rPr sz="1400" b="0" i="0" dirty="0">
                <a:solidFill>
                  <a:srgbClr val="CCCCCC"/>
                </a:solidFill>
              </a:rPr>
              <a:t> (centroid tracker)  |  </a:t>
            </a:r>
            <a:r>
              <a:rPr sz="1400" b="0" i="0" dirty="0" err="1">
                <a:solidFill>
                  <a:srgbClr val="CCCCCC"/>
                </a:solidFill>
              </a:rPr>
              <a:t>PersonDetector</a:t>
            </a:r>
            <a:r>
              <a:rPr sz="1400" b="0" i="0" dirty="0">
                <a:solidFill>
                  <a:srgbClr val="CCCCCC"/>
                </a:solidFill>
              </a:rPr>
              <a:t> (YOLOv8)</a:t>
            </a:r>
          </a:p>
        </p:txBody>
      </p:sp>
      <p:sp>
        <p:nvSpPr>
          <p:cNvPr id="16" name="Rectangle 15"/>
          <p:cNvSpPr/>
          <p:nvPr/>
        </p:nvSpPr>
        <p:spPr>
          <a:xfrm>
            <a:off x="365760" y="5074920"/>
            <a:ext cx="11430000" cy="1234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5074920"/>
            <a:ext cx="164592"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5120640"/>
            <a:ext cx="10972800" cy="411480"/>
          </a:xfrm>
          <a:prstGeom prst="rect">
            <a:avLst/>
          </a:prstGeom>
          <a:noFill/>
        </p:spPr>
        <p:txBody>
          <a:bodyPr wrap="square">
            <a:spAutoFit/>
          </a:bodyPr>
          <a:lstStyle/>
          <a:p>
            <a:pPr algn="l"/>
            <a:r>
              <a:rPr sz="1500" b="1" i="0">
                <a:solidFill>
                  <a:srgbClr val="EF4444"/>
                </a:solidFill>
              </a:rPr>
              <a:t>Storage</a:t>
            </a:r>
          </a:p>
        </p:txBody>
      </p:sp>
      <p:sp>
        <p:nvSpPr>
          <p:cNvPr id="19" name="TextBox 18"/>
          <p:cNvSpPr txBox="1"/>
          <p:nvPr/>
        </p:nvSpPr>
        <p:spPr>
          <a:xfrm>
            <a:off x="685800" y="5550408"/>
            <a:ext cx="10972800" cy="523220"/>
          </a:xfrm>
          <a:prstGeom prst="rect">
            <a:avLst/>
          </a:prstGeom>
          <a:noFill/>
        </p:spPr>
        <p:txBody>
          <a:bodyPr wrap="square">
            <a:spAutoFit/>
          </a:bodyPr>
          <a:lstStyle/>
          <a:p>
            <a:pPr algn="l"/>
            <a:r>
              <a:rPr sz="1400" b="0" i="0" dirty="0">
                <a:solidFill>
                  <a:srgbClr val="CCCCCC"/>
                </a:solidFill>
              </a:rPr>
              <a:t>SQLite via async </a:t>
            </a:r>
            <a:r>
              <a:rPr sz="1400" b="0" i="0" dirty="0" err="1">
                <a:solidFill>
                  <a:srgbClr val="CCCCCC"/>
                </a:solidFill>
              </a:rPr>
              <a:t>SQLAlchemy</a:t>
            </a:r>
            <a:r>
              <a:rPr sz="1400" b="0" i="0" dirty="0">
                <a:solidFill>
                  <a:srgbClr val="CCCCCC"/>
                </a:solidFill>
              </a:rPr>
              <a:t>  |  Video files on disk  |  Employee photos on disk
Tables: </a:t>
            </a:r>
            <a:r>
              <a:rPr sz="1400" b="0" i="0" dirty="0" err="1">
                <a:solidFill>
                  <a:srgbClr val="CCCCCC"/>
                </a:solidFill>
              </a:rPr>
              <a:t>demo_employees</a:t>
            </a:r>
            <a:r>
              <a:rPr sz="1400" b="0" i="0" dirty="0">
                <a:solidFill>
                  <a:srgbClr val="CCCCCC"/>
                </a:solidFill>
              </a:rPr>
              <a:t>, </a:t>
            </a:r>
            <a:r>
              <a:rPr sz="1400" b="0" i="0" dirty="0" err="1">
                <a:solidFill>
                  <a:srgbClr val="CCCCCC"/>
                </a:solidFill>
              </a:rPr>
              <a:t>unauthorized_demo_videos</a:t>
            </a:r>
            <a:r>
              <a:rPr sz="1400" b="0" i="0" dirty="0">
                <a:solidFill>
                  <a:srgbClr val="CCCCCC"/>
                </a:solidFill>
              </a:rPr>
              <a:t>, </a:t>
            </a:r>
            <a:r>
              <a:rPr sz="1400" b="0" i="0" dirty="0" err="1">
                <a:solidFill>
                  <a:srgbClr val="CCCCCC"/>
                </a:solidFill>
              </a:rPr>
              <a:t>idle_demo_videos</a:t>
            </a:r>
            <a:r>
              <a:rPr sz="1400" b="0" i="0" dirty="0">
                <a:solidFill>
                  <a:srgbClr val="CCCCCC"/>
                </a:solidFill>
              </a:rPr>
              <a:t>, </a:t>
            </a:r>
            <a:r>
              <a:rPr sz="1400" b="0" i="0" dirty="0" err="1">
                <a:solidFill>
                  <a:srgbClr val="CCCCCC"/>
                </a:solidFill>
              </a:rPr>
              <a:t>idle_events</a:t>
            </a:r>
            <a:r>
              <a:rPr sz="1400" b="0" i="0" dirty="0">
                <a:solidFill>
                  <a:srgbClr val="CCCCCC"/>
                </a:solidFill>
              </a:rPr>
              <a:t>, </a:t>
            </a:r>
            <a:r>
              <a:rPr sz="1400" b="0" i="0" dirty="0" err="1">
                <a:solidFill>
                  <a:srgbClr val="CCCCCC"/>
                </a:solidFill>
              </a:rPr>
              <a:t>work_schedules</a:t>
            </a:r>
            <a:endParaRPr sz="1400" b="0" i="0" dirty="0">
              <a:solidFill>
                <a:srgbClr val="CCCCCC"/>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48272"/>
            <a:ext cx="12188952" cy="109728"/>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371600"/>
            <a:ext cx="10972800" cy="1097280"/>
          </a:xfrm>
          <a:prstGeom prst="rect">
            <a:avLst/>
          </a:prstGeom>
          <a:noFill/>
        </p:spPr>
        <p:txBody>
          <a:bodyPr wrap="square">
            <a:spAutoFit/>
          </a:bodyPr>
          <a:lstStyle/>
          <a:p>
            <a:pPr algn="ctr"/>
            <a:r>
              <a:rPr sz="6000" b="1" i="0">
                <a:solidFill>
                  <a:srgbClr val="19C37D"/>
                </a:solidFill>
              </a:rPr>
              <a:t>VisionAI</a:t>
            </a:r>
          </a:p>
        </p:txBody>
      </p:sp>
      <p:sp>
        <p:nvSpPr>
          <p:cNvPr id="5" name="TextBox 4"/>
          <p:cNvSpPr txBox="1"/>
          <p:nvPr/>
        </p:nvSpPr>
        <p:spPr>
          <a:xfrm>
            <a:off x="457200" y="2468880"/>
            <a:ext cx="10972800" cy="640080"/>
          </a:xfrm>
          <a:prstGeom prst="rect">
            <a:avLst/>
          </a:prstGeom>
          <a:noFill/>
        </p:spPr>
        <p:txBody>
          <a:bodyPr wrap="square">
            <a:spAutoFit/>
          </a:bodyPr>
          <a:lstStyle/>
          <a:p>
            <a:pPr algn="ctr"/>
            <a:r>
              <a:rPr sz="2400" b="0" i="0">
                <a:solidFill>
                  <a:srgbClr val="FFFFFF"/>
                </a:solidFill>
              </a:rPr>
              <a:t>AI-Powered Workforce Intelligence</a:t>
            </a:r>
          </a:p>
        </p:txBody>
      </p:sp>
      <p:sp>
        <p:nvSpPr>
          <p:cNvPr id="6" name="Rectangle 5"/>
          <p:cNvSpPr/>
          <p:nvPr/>
        </p:nvSpPr>
        <p:spPr>
          <a:xfrm>
            <a:off x="1371600" y="3383280"/>
            <a:ext cx="2834640" cy="502920"/>
          </a:xfrm>
          <a:prstGeom prst="rect">
            <a:avLst/>
          </a:prstGeom>
          <a:solidFill>
            <a:srgbClr val="19C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63040" y="3506724"/>
            <a:ext cx="2743200" cy="276999"/>
          </a:xfrm>
          <a:prstGeom prst="rect">
            <a:avLst/>
          </a:prstGeom>
          <a:noFill/>
        </p:spPr>
        <p:txBody>
          <a:bodyPr wrap="square">
            <a:spAutoFit/>
          </a:bodyPr>
          <a:lstStyle/>
          <a:p>
            <a:pPr algn="ctr"/>
            <a:r>
              <a:rPr sz="1200" b="1" i="0" dirty="0">
                <a:solidFill>
                  <a:srgbClr val="111111"/>
                </a:solidFill>
              </a:rPr>
              <a:t>Demo 1: Employee Detection</a:t>
            </a:r>
          </a:p>
        </p:txBody>
      </p:sp>
      <p:sp>
        <p:nvSpPr>
          <p:cNvPr id="8" name="Rectangle 7"/>
          <p:cNvSpPr/>
          <p:nvPr/>
        </p:nvSpPr>
        <p:spPr>
          <a:xfrm>
            <a:off x="4663440" y="3383280"/>
            <a:ext cx="2834640"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79" y="3529584"/>
            <a:ext cx="2743200" cy="276999"/>
          </a:xfrm>
          <a:prstGeom prst="rect">
            <a:avLst/>
          </a:prstGeom>
          <a:noFill/>
        </p:spPr>
        <p:txBody>
          <a:bodyPr wrap="square">
            <a:spAutoFit/>
          </a:bodyPr>
          <a:lstStyle/>
          <a:p>
            <a:pPr algn="ctr"/>
            <a:r>
              <a:rPr sz="1200" b="1" i="0" dirty="0">
                <a:solidFill>
                  <a:srgbClr val="111111"/>
                </a:solidFill>
              </a:rPr>
              <a:t>Demo 2: Unauthorized Entry Detection</a:t>
            </a:r>
          </a:p>
        </p:txBody>
      </p:sp>
      <p:sp>
        <p:nvSpPr>
          <p:cNvPr id="10" name="Rectangle 9"/>
          <p:cNvSpPr/>
          <p:nvPr/>
        </p:nvSpPr>
        <p:spPr>
          <a:xfrm>
            <a:off x="7955279" y="3383280"/>
            <a:ext cx="283464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8" y="3488436"/>
            <a:ext cx="2743200" cy="276999"/>
          </a:xfrm>
          <a:prstGeom prst="rect">
            <a:avLst/>
          </a:prstGeom>
          <a:noFill/>
        </p:spPr>
        <p:txBody>
          <a:bodyPr wrap="square">
            <a:spAutoFit/>
          </a:bodyPr>
          <a:lstStyle/>
          <a:p>
            <a:pPr algn="ctr"/>
            <a:r>
              <a:rPr sz="1200" b="1" i="0" dirty="0">
                <a:solidFill>
                  <a:srgbClr val="111111"/>
                </a:solidFill>
              </a:rPr>
              <a:t>Demo 3: Idle + Shift Compliance</a:t>
            </a:r>
          </a:p>
        </p:txBody>
      </p:sp>
      <p:sp>
        <p:nvSpPr>
          <p:cNvPr id="12" name="TextBox 11"/>
          <p:cNvSpPr txBox="1"/>
          <p:nvPr/>
        </p:nvSpPr>
        <p:spPr>
          <a:xfrm>
            <a:off x="457200" y="4297680"/>
            <a:ext cx="10972800" cy="822960"/>
          </a:xfrm>
          <a:prstGeom prst="rect">
            <a:avLst/>
          </a:prstGeom>
          <a:noFill/>
        </p:spPr>
        <p:txBody>
          <a:bodyPr wrap="square">
            <a:spAutoFit/>
          </a:bodyPr>
          <a:lstStyle/>
          <a:p>
            <a:pPr algn="ctr"/>
            <a:r>
              <a:rPr sz="4000" b="1" i="0">
                <a:solidFill>
                  <a:srgbClr val="FFFFFF"/>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TotalTime>
  <Words>1337</Words>
  <Application>Microsoft Office PowerPoint</Application>
  <PresentationFormat>Custom</PresentationFormat>
  <Paragraphs>159</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madhusudhan raju kurapati</cp:lastModifiedBy>
  <cp:revision>10</cp:revision>
  <dcterms:created xsi:type="dcterms:W3CDTF">2013-01-27T09:14:16Z</dcterms:created>
  <dcterms:modified xsi:type="dcterms:W3CDTF">2026-03-24T08:55:08Z</dcterms:modified>
  <cp:category/>
</cp:coreProperties>
</file>